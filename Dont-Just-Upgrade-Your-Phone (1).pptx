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Lato Thin" panose="020F0502020204030203" pitchFamily="34" charset="0"/>
      <p:regular r:id="rId13"/>
      <p:italic r:id="rId14"/>
    </p:embeddedFont>
    <p:embeddedFont>
      <p:font typeface="Montserrat"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37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2104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IN"/>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637711"/>
            <a:ext cx="7556421" cy="1695450"/>
          </a:xfrm>
          <a:prstGeom prst="rect">
            <a:avLst/>
          </a:prstGeom>
          <a:noFill/>
          <a:ln/>
        </p:spPr>
        <p:txBody>
          <a:bodyPr wrap="square" lIns="0" tIns="0" rIns="0" bIns="0" rtlCol="0" anchor="t"/>
          <a:lstStyle/>
          <a:p>
            <a:pPr marL="0" indent="0" algn="l">
              <a:lnSpc>
                <a:spcPts val="6650"/>
              </a:lnSpc>
              <a:buNone/>
            </a:pPr>
            <a:r>
              <a:rPr lang="en-US" sz="5100" dirty="0">
                <a:solidFill>
                  <a:srgbClr val="532418"/>
                </a:solidFill>
                <a:latin typeface="Marcellus" pitchFamily="34" charset="0"/>
                <a:ea typeface="Marcellus" pitchFamily="34" charset="-122"/>
                <a:cs typeface="Marcellus" pitchFamily="34" charset="-120"/>
              </a:rPr>
              <a:t>Don't Just Upgrade Your Phone</a:t>
            </a:r>
            <a:endParaRPr lang="en-US" sz="5100" dirty="0"/>
          </a:p>
        </p:txBody>
      </p:sp>
      <p:sp>
        <p:nvSpPr>
          <p:cNvPr id="4" name="Text 1"/>
          <p:cNvSpPr/>
          <p:nvPr/>
        </p:nvSpPr>
        <p:spPr>
          <a:xfrm>
            <a:off x="793790" y="4673322"/>
            <a:ext cx="7556421" cy="368498"/>
          </a:xfrm>
          <a:prstGeom prst="rect">
            <a:avLst/>
          </a:prstGeom>
          <a:noFill/>
          <a:ln/>
        </p:spPr>
        <p:txBody>
          <a:bodyPr wrap="none" lIns="0" tIns="0" rIns="0" bIns="0" rtlCol="0" anchor="t"/>
          <a:lstStyle/>
          <a:p>
            <a:pPr marL="0" indent="0" algn="l">
              <a:lnSpc>
                <a:spcPts val="2900"/>
              </a:lnSpc>
              <a:buNone/>
            </a:pPr>
            <a:r>
              <a:rPr lang="en-US" sz="2200" b="1" dirty="0">
                <a:solidFill>
                  <a:srgbClr val="67534F"/>
                </a:solidFill>
                <a:latin typeface="Montserrat" pitchFamily="34" charset="0"/>
                <a:ea typeface="Montserrat" pitchFamily="34" charset="-122"/>
                <a:cs typeface="Montserrat" pitchFamily="34" charset="-120"/>
              </a:rPr>
              <a:t>Upgrade Your Statement</a:t>
            </a:r>
            <a:endParaRPr lang="en-US" sz="2200" dirty="0"/>
          </a:p>
        </p:txBody>
      </p:sp>
      <p:sp>
        <p:nvSpPr>
          <p:cNvPr id="5" name="Text 2"/>
          <p:cNvSpPr/>
          <p:nvPr/>
        </p:nvSpPr>
        <p:spPr>
          <a:xfrm>
            <a:off x="793790" y="5296972"/>
            <a:ext cx="7556421" cy="294799"/>
          </a:xfrm>
          <a:prstGeom prst="rect">
            <a:avLst/>
          </a:prstGeom>
          <a:noFill/>
          <a:ln/>
        </p:spPr>
        <p:txBody>
          <a:bodyPr wrap="none" lIns="0" tIns="0" rIns="0" bIns="0" rtlCol="0" anchor="t"/>
          <a:lstStyle/>
          <a:p>
            <a:pPr marL="0" indent="0" algn="l">
              <a:lnSpc>
                <a:spcPts val="2300"/>
              </a:lnSpc>
              <a:buNone/>
            </a:pPr>
            <a:r>
              <a:rPr lang="en-US" sz="1750" b="1" dirty="0">
                <a:solidFill>
                  <a:srgbClr val="67534F"/>
                </a:solidFill>
                <a:latin typeface="Montserrat" pitchFamily="34" charset="0"/>
                <a:ea typeface="Montserrat" pitchFamily="34" charset="-122"/>
                <a:cs typeface="Montserrat" pitchFamily="34" charset="-120"/>
              </a:rPr>
              <a:t>RMDU Mobile</a:t>
            </a:r>
            <a:r>
              <a:rPr lang="en-US" sz="1750" dirty="0">
                <a:solidFill>
                  <a:srgbClr val="67534F"/>
                </a:solidFill>
                <a:latin typeface="Montserrat" pitchFamily="34" charset="0"/>
                <a:ea typeface="Montserrat" pitchFamily="34" charset="-122"/>
                <a:cs typeface="Montserrat" pitchFamily="34" charset="-120"/>
              </a:rPr>
              <a:t> — The Future of Mobile Discovery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76920"/>
          </a:xfrm>
          <a:prstGeom prst="rect">
            <a:avLst/>
          </a:prstGeom>
        </p:spPr>
      </p:pic>
      <p:sp>
        <p:nvSpPr>
          <p:cNvPr id="3" name="Text 0"/>
          <p:cNvSpPr/>
          <p:nvPr/>
        </p:nvSpPr>
        <p:spPr>
          <a:xfrm>
            <a:off x="793790" y="4306014"/>
            <a:ext cx="5317569" cy="678180"/>
          </a:xfrm>
          <a:prstGeom prst="rect">
            <a:avLst/>
          </a:prstGeom>
          <a:noFill/>
          <a:ln/>
        </p:spPr>
        <p:txBody>
          <a:bodyPr wrap="none" lIns="0" tIns="0" rIns="0" bIns="0" rtlCol="0" anchor="t"/>
          <a:lstStyle/>
          <a:p>
            <a:pPr marL="0" indent="0" algn="l">
              <a:lnSpc>
                <a:spcPts val="5300"/>
              </a:lnSpc>
              <a:buNone/>
            </a:pPr>
            <a:r>
              <a:rPr lang="en-US" sz="4100" dirty="0">
                <a:solidFill>
                  <a:srgbClr val="532418"/>
                </a:solidFill>
                <a:latin typeface="Marcellus" pitchFamily="34" charset="0"/>
                <a:ea typeface="Marcellus" pitchFamily="34" charset="-122"/>
                <a:cs typeface="Marcellus" pitchFamily="34" charset="-120"/>
              </a:rPr>
              <a:t>The Problem We Solve</a:t>
            </a:r>
            <a:endParaRPr lang="en-US" sz="4100" dirty="0"/>
          </a:p>
        </p:txBody>
      </p:sp>
      <p:sp>
        <p:nvSpPr>
          <p:cNvPr id="4" name="Text 1"/>
          <p:cNvSpPr/>
          <p:nvPr/>
        </p:nvSpPr>
        <p:spPr>
          <a:xfrm>
            <a:off x="793790" y="5324356"/>
            <a:ext cx="13042821" cy="884396"/>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Shopkeepers prioritize profit margins over your needs. You're sold features you'll never use, premium specs you don't need, and phones that drain your wallet. The mobile buying experience is broken—driven by commission, not clarity.</a:t>
            </a:r>
            <a:endParaRPr lang="en-US" sz="1750" dirty="0"/>
          </a:p>
        </p:txBody>
      </p:sp>
      <p:sp>
        <p:nvSpPr>
          <p:cNvPr id="5" name="Text 2"/>
          <p:cNvSpPr/>
          <p:nvPr/>
        </p:nvSpPr>
        <p:spPr>
          <a:xfrm>
            <a:off x="793790" y="6463903"/>
            <a:ext cx="13042821"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It's time for transparency.</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0218" y="622697"/>
            <a:ext cx="7563564" cy="1687711"/>
          </a:xfrm>
          <a:prstGeom prst="rect">
            <a:avLst/>
          </a:prstGeom>
          <a:noFill/>
          <a:ln/>
        </p:spPr>
        <p:txBody>
          <a:bodyPr wrap="none" lIns="0" tIns="0" rIns="0" bIns="0" rtlCol="0" anchor="t"/>
          <a:lstStyle/>
          <a:p>
            <a:pPr marL="0" indent="0" algn="l">
              <a:lnSpc>
                <a:spcPts val="13250"/>
              </a:lnSpc>
              <a:buNone/>
            </a:pPr>
            <a:r>
              <a:rPr lang="en-US" sz="10200" dirty="0">
                <a:solidFill>
                  <a:srgbClr val="532418"/>
                </a:solidFill>
                <a:latin typeface="Marcellus" pitchFamily="34" charset="0"/>
                <a:ea typeface="Marcellus" pitchFamily="34" charset="-122"/>
                <a:cs typeface="Marcellus" pitchFamily="34" charset="-120"/>
              </a:rPr>
              <a:t>Buy Smart</a:t>
            </a:r>
            <a:endParaRPr lang="en-US" sz="10200" dirty="0"/>
          </a:p>
        </p:txBody>
      </p:sp>
      <p:sp>
        <p:nvSpPr>
          <p:cNvPr id="4" name="Text 1"/>
          <p:cNvSpPr/>
          <p:nvPr/>
        </p:nvSpPr>
        <p:spPr>
          <a:xfrm>
            <a:off x="790218" y="2649022"/>
            <a:ext cx="7563564" cy="293370"/>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Not for their profit. For your performance.</a:t>
            </a:r>
            <a:endParaRPr lang="en-US" sz="1750" dirty="0"/>
          </a:p>
        </p:txBody>
      </p:sp>
      <p:sp>
        <p:nvSpPr>
          <p:cNvPr id="5" name="Shape 2"/>
          <p:cNvSpPr/>
          <p:nvPr/>
        </p:nvSpPr>
        <p:spPr>
          <a:xfrm>
            <a:off x="790218" y="3196352"/>
            <a:ext cx="7563564" cy="2092404"/>
          </a:xfrm>
          <a:prstGeom prst="roundRect">
            <a:avLst>
              <a:gd name="adj" fmla="val 4532"/>
            </a:avLst>
          </a:prstGeom>
          <a:solidFill>
            <a:srgbClr val="FFFFF4"/>
          </a:solidFill>
          <a:ln w="22860">
            <a:solidFill>
              <a:srgbClr val="FFE0CC"/>
            </a:solidFill>
            <a:prstDash val="solid"/>
          </a:ln>
        </p:spPr>
        <p:txBody>
          <a:bodyPr/>
          <a:lstStyle/>
          <a:p>
            <a:endParaRPr lang="en-IN"/>
          </a:p>
        </p:txBody>
      </p:sp>
      <p:sp>
        <p:nvSpPr>
          <p:cNvPr id="6" name="Text 3"/>
          <p:cNvSpPr/>
          <p:nvPr/>
        </p:nvSpPr>
        <p:spPr>
          <a:xfrm>
            <a:off x="1038820" y="3444954"/>
            <a:ext cx="3245525" cy="421838"/>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Before RMDU</a:t>
            </a:r>
            <a:endParaRPr lang="en-US" sz="2550" dirty="0"/>
          </a:p>
        </p:txBody>
      </p:sp>
      <p:sp>
        <p:nvSpPr>
          <p:cNvPr id="7" name="Text 4"/>
          <p:cNvSpPr/>
          <p:nvPr/>
        </p:nvSpPr>
        <p:spPr>
          <a:xfrm>
            <a:off x="1038820" y="4002167"/>
            <a:ext cx="7066359" cy="293370"/>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Biased recommendations</a:t>
            </a:r>
            <a:endParaRPr lang="en-US" sz="1750" dirty="0"/>
          </a:p>
        </p:txBody>
      </p:sp>
      <p:sp>
        <p:nvSpPr>
          <p:cNvPr id="8" name="Text 5"/>
          <p:cNvSpPr/>
          <p:nvPr/>
        </p:nvSpPr>
        <p:spPr>
          <a:xfrm>
            <a:off x="1038820" y="4374475"/>
            <a:ext cx="7066359" cy="293370"/>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Hidden trade-offs</a:t>
            </a:r>
            <a:endParaRPr lang="en-US" sz="1750" dirty="0"/>
          </a:p>
        </p:txBody>
      </p:sp>
      <p:sp>
        <p:nvSpPr>
          <p:cNvPr id="9" name="Text 6"/>
          <p:cNvSpPr/>
          <p:nvPr/>
        </p:nvSpPr>
        <p:spPr>
          <a:xfrm>
            <a:off x="1038820" y="4746784"/>
            <a:ext cx="7066359" cy="293370"/>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Overpaying for features</a:t>
            </a:r>
            <a:endParaRPr lang="en-US" sz="1750" dirty="0"/>
          </a:p>
        </p:txBody>
      </p:sp>
      <p:sp>
        <p:nvSpPr>
          <p:cNvPr id="10" name="Shape 7"/>
          <p:cNvSpPr/>
          <p:nvPr/>
        </p:nvSpPr>
        <p:spPr>
          <a:xfrm>
            <a:off x="790218" y="5514499"/>
            <a:ext cx="7563564" cy="2092404"/>
          </a:xfrm>
          <a:prstGeom prst="roundRect">
            <a:avLst>
              <a:gd name="adj" fmla="val 4532"/>
            </a:avLst>
          </a:prstGeom>
          <a:solidFill>
            <a:srgbClr val="FFFFF4"/>
          </a:solidFill>
          <a:ln w="22860">
            <a:solidFill>
              <a:srgbClr val="FFE0CC"/>
            </a:solidFill>
            <a:prstDash val="solid"/>
          </a:ln>
        </p:spPr>
        <p:txBody>
          <a:bodyPr/>
          <a:lstStyle/>
          <a:p>
            <a:endParaRPr lang="en-IN"/>
          </a:p>
        </p:txBody>
      </p:sp>
      <p:sp>
        <p:nvSpPr>
          <p:cNvPr id="11" name="Text 8"/>
          <p:cNvSpPr/>
          <p:nvPr/>
        </p:nvSpPr>
        <p:spPr>
          <a:xfrm>
            <a:off x="1038820" y="5763101"/>
            <a:ext cx="3245525" cy="421838"/>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With RMDU</a:t>
            </a:r>
            <a:endParaRPr lang="en-US" sz="2550" dirty="0"/>
          </a:p>
        </p:txBody>
      </p:sp>
      <p:sp>
        <p:nvSpPr>
          <p:cNvPr id="12" name="Text 9"/>
          <p:cNvSpPr/>
          <p:nvPr/>
        </p:nvSpPr>
        <p:spPr>
          <a:xfrm>
            <a:off x="1038820" y="6320314"/>
            <a:ext cx="7066359" cy="293370"/>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Honest guidance</a:t>
            </a:r>
            <a:endParaRPr lang="en-US" sz="1750" dirty="0"/>
          </a:p>
        </p:txBody>
      </p:sp>
      <p:sp>
        <p:nvSpPr>
          <p:cNvPr id="13" name="Text 10"/>
          <p:cNvSpPr/>
          <p:nvPr/>
        </p:nvSpPr>
        <p:spPr>
          <a:xfrm>
            <a:off x="1038820" y="6692622"/>
            <a:ext cx="7066359" cy="293370"/>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Full transparency</a:t>
            </a:r>
            <a:endParaRPr lang="en-US" sz="1750" dirty="0"/>
          </a:p>
        </p:txBody>
      </p:sp>
      <p:sp>
        <p:nvSpPr>
          <p:cNvPr id="14" name="Text 11"/>
          <p:cNvSpPr/>
          <p:nvPr/>
        </p:nvSpPr>
        <p:spPr>
          <a:xfrm>
            <a:off x="1038820" y="7064931"/>
            <a:ext cx="7066359" cy="293370"/>
          </a:xfrm>
          <a:prstGeom prst="rect">
            <a:avLst/>
          </a:prstGeom>
          <a:noFill/>
          <a:ln/>
        </p:spPr>
        <p:txBody>
          <a:bodyPr wrap="none" lIns="0" tIns="0" rIns="0" bIns="0" rtlCol="0" anchor="t"/>
          <a:lstStyle/>
          <a:p>
            <a:pPr marL="342900" indent="-342900" algn="l">
              <a:lnSpc>
                <a:spcPts val="2300"/>
              </a:lnSpc>
              <a:buSzPct val="100000"/>
              <a:buChar char="•"/>
            </a:pPr>
            <a:r>
              <a:rPr lang="en-US" sz="1750" dirty="0">
                <a:solidFill>
                  <a:srgbClr val="67534F"/>
                </a:solidFill>
                <a:latin typeface="Montserrat" pitchFamily="34" charset="0"/>
                <a:ea typeface="Montserrat" pitchFamily="34" charset="-122"/>
                <a:cs typeface="Montserrat" pitchFamily="34" charset="-120"/>
              </a:rPr>
              <a:t>Perfect fit, real value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857845"/>
            <a:ext cx="5521285" cy="678180"/>
          </a:xfrm>
          <a:prstGeom prst="rect">
            <a:avLst/>
          </a:prstGeom>
          <a:noFill/>
          <a:ln/>
        </p:spPr>
        <p:txBody>
          <a:bodyPr wrap="none" lIns="0" tIns="0" rIns="0" bIns="0" rtlCol="0" anchor="t"/>
          <a:lstStyle/>
          <a:p>
            <a:pPr marL="0" indent="0" algn="l">
              <a:lnSpc>
                <a:spcPts val="5300"/>
              </a:lnSpc>
              <a:buNone/>
            </a:pPr>
            <a:r>
              <a:rPr lang="en-US" sz="4100" dirty="0">
                <a:solidFill>
                  <a:srgbClr val="532418"/>
                </a:solidFill>
                <a:latin typeface="Marcellus" pitchFamily="34" charset="0"/>
                <a:ea typeface="Marcellus" pitchFamily="34" charset="-122"/>
                <a:cs typeface="Marcellus" pitchFamily="34" charset="-120"/>
              </a:rPr>
              <a:t>Our Intelligent Solution</a:t>
            </a:r>
            <a:endParaRPr lang="en-US" sz="4100" dirty="0"/>
          </a:p>
        </p:txBody>
      </p:sp>
      <p:sp>
        <p:nvSpPr>
          <p:cNvPr id="4" name="Text 1"/>
          <p:cNvSpPr/>
          <p:nvPr/>
        </p:nvSpPr>
        <p:spPr>
          <a:xfrm>
            <a:off x="793790" y="1876187"/>
            <a:ext cx="7556421" cy="884396"/>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RMDU delivers honest, segment-based mobile recommendations built on real performance data, transparent value analysis, and your actual needs—not retailer margins.</a:t>
            </a:r>
            <a:endParaRPr lang="en-US" sz="17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8800" y="3029783"/>
            <a:ext cx="340162" cy="340162"/>
          </a:xfrm>
          <a:prstGeom prst="rect">
            <a:avLst/>
          </a:prstGeom>
        </p:spPr>
      </p:pic>
      <p:sp>
        <p:nvSpPr>
          <p:cNvPr id="6" name="Text 2"/>
          <p:cNvSpPr/>
          <p:nvPr/>
        </p:nvSpPr>
        <p:spPr>
          <a:xfrm>
            <a:off x="1530906" y="3015734"/>
            <a:ext cx="3804999"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Real Performance Metrics</a:t>
            </a:r>
            <a:endParaRPr lang="en-US" sz="2550" dirty="0"/>
          </a:p>
        </p:txBody>
      </p:sp>
      <p:sp>
        <p:nvSpPr>
          <p:cNvPr id="7" name="Text 3"/>
          <p:cNvSpPr/>
          <p:nvPr/>
        </p:nvSpPr>
        <p:spPr>
          <a:xfrm>
            <a:off x="1530906" y="3575685"/>
            <a:ext cx="6819305" cy="589598"/>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Benchmark data from independent reviewers and actual user performance, not marketing claims.</a:t>
            </a:r>
            <a:endParaRPr lang="en-US" sz="17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8800" y="4632960"/>
            <a:ext cx="340162" cy="340162"/>
          </a:xfrm>
          <a:prstGeom prst="rect">
            <a:avLst/>
          </a:prstGeom>
        </p:spPr>
      </p:pic>
      <p:sp>
        <p:nvSpPr>
          <p:cNvPr id="9" name="Text 4"/>
          <p:cNvSpPr/>
          <p:nvPr/>
        </p:nvSpPr>
        <p:spPr>
          <a:xfrm>
            <a:off x="1530906" y="4618911"/>
            <a:ext cx="4174450"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Unbiased Recommendations</a:t>
            </a:r>
            <a:endParaRPr lang="en-US" sz="2550" dirty="0"/>
          </a:p>
        </p:txBody>
      </p:sp>
      <p:sp>
        <p:nvSpPr>
          <p:cNvPr id="10" name="Text 5"/>
          <p:cNvSpPr/>
          <p:nvPr/>
        </p:nvSpPr>
        <p:spPr>
          <a:xfrm>
            <a:off x="1530906" y="5178862"/>
            <a:ext cx="6819305" cy="589598"/>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No brand partnerships, no commission bias. Pure recommendations based on your priorities.</a:t>
            </a:r>
            <a:endParaRPr lang="en-US" sz="1750" dirty="0"/>
          </a:p>
        </p:txBody>
      </p:sp>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8800" y="6236137"/>
            <a:ext cx="340162" cy="340162"/>
          </a:xfrm>
          <a:prstGeom prst="rect">
            <a:avLst/>
          </a:prstGeom>
        </p:spPr>
      </p:pic>
      <p:sp>
        <p:nvSpPr>
          <p:cNvPr id="12" name="Text 6"/>
          <p:cNvSpPr/>
          <p:nvPr/>
        </p:nvSpPr>
        <p:spPr>
          <a:xfrm>
            <a:off x="1530906" y="6222087"/>
            <a:ext cx="3324820"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Price-to-Value Analysis</a:t>
            </a:r>
            <a:endParaRPr lang="en-US" sz="2550" dirty="0"/>
          </a:p>
        </p:txBody>
      </p:sp>
      <p:sp>
        <p:nvSpPr>
          <p:cNvPr id="13" name="Text 7"/>
          <p:cNvSpPr/>
          <p:nvPr/>
        </p:nvSpPr>
        <p:spPr>
          <a:xfrm>
            <a:off x="1530906" y="6782038"/>
            <a:ext cx="6819305" cy="589598"/>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See what you're truly paying for and if the premium is worth your investment.</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51761"/>
            <a:ext cx="5386030" cy="678180"/>
          </a:xfrm>
          <a:prstGeom prst="rect">
            <a:avLst/>
          </a:prstGeom>
          <a:noFill/>
          <a:ln/>
        </p:spPr>
        <p:txBody>
          <a:bodyPr wrap="none" lIns="0" tIns="0" rIns="0" bIns="0" rtlCol="0" anchor="t"/>
          <a:lstStyle/>
          <a:p>
            <a:pPr marL="0" indent="0" algn="l">
              <a:lnSpc>
                <a:spcPts val="5300"/>
              </a:lnSpc>
              <a:buNone/>
            </a:pPr>
            <a:r>
              <a:rPr lang="en-US" sz="4100" dirty="0">
                <a:solidFill>
                  <a:srgbClr val="532418"/>
                </a:solidFill>
                <a:latin typeface="Marcellus" pitchFamily="34" charset="0"/>
                <a:ea typeface="Marcellus" pitchFamily="34" charset="-122"/>
                <a:cs typeface="Marcellus" pitchFamily="34" charset="-120"/>
              </a:rPr>
              <a:t>Five Perfect Categories</a:t>
            </a:r>
            <a:endParaRPr lang="en-US" sz="4100" dirty="0"/>
          </a:p>
        </p:txBody>
      </p:sp>
      <p:sp>
        <p:nvSpPr>
          <p:cNvPr id="3" name="Text 1"/>
          <p:cNvSpPr/>
          <p:nvPr/>
        </p:nvSpPr>
        <p:spPr>
          <a:xfrm>
            <a:off x="793790" y="1883569"/>
            <a:ext cx="13042821"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Every phone tells a story. Find yours.</a:t>
            </a:r>
            <a:endParaRPr lang="en-US" sz="1750" dirty="0"/>
          </a:p>
        </p:txBody>
      </p:sp>
      <p:sp>
        <p:nvSpPr>
          <p:cNvPr id="4" name="Shape 2"/>
          <p:cNvSpPr/>
          <p:nvPr/>
        </p:nvSpPr>
        <p:spPr>
          <a:xfrm>
            <a:off x="793790" y="2433518"/>
            <a:ext cx="4196358" cy="2556153"/>
          </a:xfrm>
          <a:prstGeom prst="roundRect">
            <a:avLst>
              <a:gd name="adj" fmla="val 3727"/>
            </a:avLst>
          </a:prstGeom>
          <a:solidFill>
            <a:srgbClr val="FFFFF4"/>
          </a:solidFill>
          <a:ln w="22860">
            <a:solidFill>
              <a:srgbClr val="FFE0CC"/>
            </a:solidFill>
            <a:prstDash val="solid"/>
          </a:ln>
        </p:spPr>
        <p:txBody>
          <a:bodyPr/>
          <a:lstStyle/>
          <a:p>
            <a:endParaRPr lang="en-IN"/>
          </a:p>
        </p:txBody>
      </p:sp>
      <p:sp>
        <p:nvSpPr>
          <p:cNvPr id="5" name="Shape 3"/>
          <p:cNvSpPr/>
          <p:nvPr/>
        </p:nvSpPr>
        <p:spPr>
          <a:xfrm>
            <a:off x="1043464" y="2683192"/>
            <a:ext cx="680442" cy="680442"/>
          </a:xfrm>
          <a:prstGeom prst="roundRect">
            <a:avLst>
              <a:gd name="adj" fmla="val 13436980"/>
            </a:avLst>
          </a:prstGeom>
          <a:solidFill>
            <a:srgbClr val="FF954F"/>
          </a:solidFill>
          <a:ln/>
        </p:spPr>
        <p:txBody>
          <a:bodyPr/>
          <a:lstStyle/>
          <a:p>
            <a:endParaRPr lang="en-IN"/>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0630" y="2870359"/>
            <a:ext cx="306110" cy="306110"/>
          </a:xfrm>
          <a:prstGeom prst="rect">
            <a:avLst/>
          </a:prstGeom>
        </p:spPr>
      </p:pic>
      <p:sp>
        <p:nvSpPr>
          <p:cNvPr id="7" name="Text 4"/>
          <p:cNvSpPr/>
          <p:nvPr/>
        </p:nvSpPr>
        <p:spPr>
          <a:xfrm>
            <a:off x="1043464" y="3590449"/>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Budget Killer</a:t>
            </a:r>
            <a:endParaRPr lang="en-US" sz="2550" dirty="0"/>
          </a:p>
        </p:txBody>
      </p:sp>
      <p:sp>
        <p:nvSpPr>
          <p:cNvPr id="8" name="Text 5"/>
          <p:cNvSpPr/>
          <p:nvPr/>
        </p:nvSpPr>
        <p:spPr>
          <a:xfrm>
            <a:off x="1043464" y="4150400"/>
            <a:ext cx="3697010" cy="589598"/>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Maximum value without compromise</a:t>
            </a:r>
            <a:endParaRPr lang="en-US" sz="1750" dirty="0"/>
          </a:p>
        </p:txBody>
      </p:sp>
      <p:sp>
        <p:nvSpPr>
          <p:cNvPr id="9" name="Shape 6"/>
          <p:cNvSpPr/>
          <p:nvPr/>
        </p:nvSpPr>
        <p:spPr>
          <a:xfrm>
            <a:off x="5216962" y="2433518"/>
            <a:ext cx="4196358" cy="2556153"/>
          </a:xfrm>
          <a:prstGeom prst="roundRect">
            <a:avLst>
              <a:gd name="adj" fmla="val 3727"/>
            </a:avLst>
          </a:prstGeom>
          <a:solidFill>
            <a:srgbClr val="FFFFF4"/>
          </a:solidFill>
          <a:ln w="22860">
            <a:solidFill>
              <a:srgbClr val="FFE0CC"/>
            </a:solidFill>
            <a:prstDash val="solid"/>
          </a:ln>
        </p:spPr>
        <p:txBody>
          <a:bodyPr/>
          <a:lstStyle/>
          <a:p>
            <a:endParaRPr lang="en-IN"/>
          </a:p>
        </p:txBody>
      </p:sp>
      <p:sp>
        <p:nvSpPr>
          <p:cNvPr id="10" name="Shape 7"/>
          <p:cNvSpPr/>
          <p:nvPr/>
        </p:nvSpPr>
        <p:spPr>
          <a:xfrm>
            <a:off x="5466636" y="2683192"/>
            <a:ext cx="680442" cy="680442"/>
          </a:xfrm>
          <a:prstGeom prst="roundRect">
            <a:avLst>
              <a:gd name="adj" fmla="val 13436980"/>
            </a:avLst>
          </a:prstGeom>
          <a:solidFill>
            <a:srgbClr val="FF954F"/>
          </a:solidFill>
          <a:ln/>
        </p:spPr>
        <p:txBody>
          <a:bodyPr/>
          <a:lstStyle/>
          <a:p>
            <a:endParaRPr lang="en-IN"/>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3802" y="2870359"/>
            <a:ext cx="306110" cy="306110"/>
          </a:xfrm>
          <a:prstGeom prst="rect">
            <a:avLst/>
          </a:prstGeom>
        </p:spPr>
      </p:pic>
      <p:sp>
        <p:nvSpPr>
          <p:cNvPr id="12" name="Text 8"/>
          <p:cNvSpPr/>
          <p:nvPr/>
        </p:nvSpPr>
        <p:spPr>
          <a:xfrm>
            <a:off x="5466636" y="3590449"/>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Gaming Guru</a:t>
            </a:r>
            <a:endParaRPr lang="en-US" sz="2550" dirty="0"/>
          </a:p>
        </p:txBody>
      </p:sp>
      <p:sp>
        <p:nvSpPr>
          <p:cNvPr id="13" name="Text 9"/>
          <p:cNvSpPr/>
          <p:nvPr/>
        </p:nvSpPr>
        <p:spPr>
          <a:xfrm>
            <a:off x="5466636" y="4150400"/>
            <a:ext cx="3697010" cy="589598"/>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Built for peak performance gaming</a:t>
            </a:r>
            <a:endParaRPr lang="en-US" sz="1750" dirty="0"/>
          </a:p>
        </p:txBody>
      </p:sp>
      <p:sp>
        <p:nvSpPr>
          <p:cNvPr id="14" name="Shape 10"/>
          <p:cNvSpPr/>
          <p:nvPr/>
        </p:nvSpPr>
        <p:spPr>
          <a:xfrm>
            <a:off x="9640133" y="2433518"/>
            <a:ext cx="4196358" cy="2556153"/>
          </a:xfrm>
          <a:prstGeom prst="roundRect">
            <a:avLst>
              <a:gd name="adj" fmla="val 3727"/>
            </a:avLst>
          </a:prstGeom>
          <a:solidFill>
            <a:srgbClr val="FFFFF4"/>
          </a:solidFill>
          <a:ln w="22860">
            <a:solidFill>
              <a:srgbClr val="FFE0CC"/>
            </a:solidFill>
            <a:prstDash val="solid"/>
          </a:ln>
        </p:spPr>
        <p:txBody>
          <a:bodyPr/>
          <a:lstStyle/>
          <a:p>
            <a:endParaRPr lang="en-IN"/>
          </a:p>
        </p:txBody>
      </p:sp>
      <p:sp>
        <p:nvSpPr>
          <p:cNvPr id="15" name="Shape 11"/>
          <p:cNvSpPr/>
          <p:nvPr/>
        </p:nvSpPr>
        <p:spPr>
          <a:xfrm>
            <a:off x="9889808" y="2683192"/>
            <a:ext cx="680442" cy="680442"/>
          </a:xfrm>
          <a:prstGeom prst="roundRect">
            <a:avLst>
              <a:gd name="adj" fmla="val 13436980"/>
            </a:avLst>
          </a:prstGeom>
          <a:solidFill>
            <a:srgbClr val="FF954F"/>
          </a:solidFill>
          <a:ln/>
        </p:spPr>
        <p:txBody>
          <a:bodyPr/>
          <a:lstStyle/>
          <a:p>
            <a:endParaRPr lang="en-IN"/>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76974" y="2870359"/>
            <a:ext cx="306110" cy="306110"/>
          </a:xfrm>
          <a:prstGeom prst="rect">
            <a:avLst/>
          </a:prstGeom>
        </p:spPr>
      </p:pic>
      <p:sp>
        <p:nvSpPr>
          <p:cNvPr id="17" name="Text 12"/>
          <p:cNvSpPr/>
          <p:nvPr/>
        </p:nvSpPr>
        <p:spPr>
          <a:xfrm>
            <a:off x="9889808" y="3590449"/>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Camera Champ</a:t>
            </a:r>
            <a:endParaRPr lang="en-US" sz="2550" dirty="0"/>
          </a:p>
        </p:txBody>
      </p:sp>
      <p:sp>
        <p:nvSpPr>
          <p:cNvPr id="18" name="Text 13"/>
          <p:cNvSpPr/>
          <p:nvPr/>
        </p:nvSpPr>
        <p:spPr>
          <a:xfrm>
            <a:off x="9889808" y="4150400"/>
            <a:ext cx="3697010" cy="589598"/>
          </a:xfrm>
          <a:prstGeom prst="rect">
            <a:avLst/>
          </a:prstGeom>
          <a:noFill/>
          <a:ln/>
        </p:spPr>
        <p:txBody>
          <a:bodyPr wrap="squar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best camera performance mobile in segment</a:t>
            </a:r>
            <a:endParaRPr lang="en-US" sz="1750" dirty="0"/>
          </a:p>
        </p:txBody>
      </p:sp>
      <p:sp>
        <p:nvSpPr>
          <p:cNvPr id="19" name="Shape 14"/>
          <p:cNvSpPr/>
          <p:nvPr/>
        </p:nvSpPr>
        <p:spPr>
          <a:xfrm>
            <a:off x="793790" y="5216485"/>
            <a:ext cx="6407944" cy="2261354"/>
          </a:xfrm>
          <a:prstGeom prst="roundRect">
            <a:avLst>
              <a:gd name="adj" fmla="val 4213"/>
            </a:avLst>
          </a:prstGeom>
          <a:solidFill>
            <a:srgbClr val="FFFFF4"/>
          </a:solidFill>
          <a:ln w="22860">
            <a:solidFill>
              <a:srgbClr val="FFE0CC"/>
            </a:solidFill>
            <a:prstDash val="solid"/>
          </a:ln>
        </p:spPr>
        <p:txBody>
          <a:bodyPr/>
          <a:lstStyle/>
          <a:p>
            <a:endParaRPr lang="en-IN"/>
          </a:p>
        </p:txBody>
      </p:sp>
      <p:sp>
        <p:nvSpPr>
          <p:cNvPr id="20" name="Shape 15"/>
          <p:cNvSpPr/>
          <p:nvPr/>
        </p:nvSpPr>
        <p:spPr>
          <a:xfrm>
            <a:off x="1043464" y="5466159"/>
            <a:ext cx="680442" cy="680442"/>
          </a:xfrm>
          <a:prstGeom prst="roundRect">
            <a:avLst>
              <a:gd name="adj" fmla="val 13436980"/>
            </a:avLst>
          </a:prstGeom>
          <a:solidFill>
            <a:srgbClr val="FF954F"/>
          </a:solidFill>
          <a:ln/>
        </p:spPr>
        <p:txBody>
          <a:bodyPr/>
          <a:lstStyle/>
          <a:p>
            <a:endParaRPr lang="en-IN"/>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30630" y="5653326"/>
            <a:ext cx="306110" cy="306110"/>
          </a:xfrm>
          <a:prstGeom prst="rect">
            <a:avLst/>
          </a:prstGeom>
        </p:spPr>
      </p:pic>
      <p:sp>
        <p:nvSpPr>
          <p:cNvPr id="22" name="Text 16"/>
          <p:cNvSpPr/>
          <p:nvPr/>
        </p:nvSpPr>
        <p:spPr>
          <a:xfrm>
            <a:off x="1043464" y="6373416"/>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Battery Boss</a:t>
            </a:r>
            <a:endParaRPr lang="en-US" sz="2550" dirty="0"/>
          </a:p>
        </p:txBody>
      </p:sp>
      <p:sp>
        <p:nvSpPr>
          <p:cNvPr id="23" name="Text 17"/>
          <p:cNvSpPr/>
          <p:nvPr/>
        </p:nvSpPr>
        <p:spPr>
          <a:xfrm>
            <a:off x="1043464" y="6933367"/>
            <a:ext cx="5908596"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All-day power that lasts longer</a:t>
            </a:r>
            <a:endParaRPr lang="en-US" sz="1750" dirty="0"/>
          </a:p>
        </p:txBody>
      </p:sp>
      <p:sp>
        <p:nvSpPr>
          <p:cNvPr id="24" name="Shape 18"/>
          <p:cNvSpPr/>
          <p:nvPr/>
        </p:nvSpPr>
        <p:spPr>
          <a:xfrm>
            <a:off x="7428548" y="5216485"/>
            <a:ext cx="6407944" cy="2261354"/>
          </a:xfrm>
          <a:prstGeom prst="roundRect">
            <a:avLst>
              <a:gd name="adj" fmla="val 4213"/>
            </a:avLst>
          </a:prstGeom>
          <a:solidFill>
            <a:srgbClr val="FFFFF4"/>
          </a:solidFill>
          <a:ln w="22860">
            <a:solidFill>
              <a:srgbClr val="FFE0CC"/>
            </a:solidFill>
            <a:prstDash val="solid"/>
          </a:ln>
        </p:spPr>
        <p:txBody>
          <a:bodyPr/>
          <a:lstStyle/>
          <a:p>
            <a:endParaRPr lang="en-IN"/>
          </a:p>
        </p:txBody>
      </p:sp>
      <p:sp>
        <p:nvSpPr>
          <p:cNvPr id="25" name="Shape 19"/>
          <p:cNvSpPr/>
          <p:nvPr/>
        </p:nvSpPr>
        <p:spPr>
          <a:xfrm>
            <a:off x="7678222" y="5466159"/>
            <a:ext cx="680442" cy="680442"/>
          </a:xfrm>
          <a:prstGeom prst="roundRect">
            <a:avLst>
              <a:gd name="adj" fmla="val 13436980"/>
            </a:avLst>
          </a:prstGeom>
          <a:solidFill>
            <a:srgbClr val="FF954F"/>
          </a:solidFill>
          <a:ln/>
        </p:spPr>
        <p:txBody>
          <a:bodyPr/>
          <a:lstStyle/>
          <a:p>
            <a:endParaRPr lang="en-IN"/>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65388" y="5653326"/>
            <a:ext cx="306110" cy="306110"/>
          </a:xfrm>
          <a:prstGeom prst="rect">
            <a:avLst/>
          </a:prstGeom>
        </p:spPr>
      </p:pic>
      <p:sp>
        <p:nvSpPr>
          <p:cNvPr id="27" name="Text 20"/>
          <p:cNvSpPr/>
          <p:nvPr/>
        </p:nvSpPr>
        <p:spPr>
          <a:xfrm>
            <a:off x="7678222" y="6373416"/>
            <a:ext cx="3260646" cy="423863"/>
          </a:xfrm>
          <a:prstGeom prst="rect">
            <a:avLst/>
          </a:prstGeom>
          <a:noFill/>
          <a:ln/>
        </p:spPr>
        <p:txBody>
          <a:bodyPr wrap="none" lIns="0" tIns="0" rIns="0" bIns="0" rtlCol="0" anchor="t"/>
          <a:lstStyle/>
          <a:p>
            <a:pPr marL="0" indent="0" algn="l">
              <a:lnSpc>
                <a:spcPts val="3300"/>
              </a:lnSpc>
              <a:buNone/>
            </a:pPr>
            <a:r>
              <a:rPr lang="en-US" sz="2550" dirty="0">
                <a:solidFill>
                  <a:srgbClr val="67534F"/>
                </a:solidFill>
                <a:latin typeface="Marcellus" pitchFamily="34" charset="0"/>
                <a:ea typeface="Marcellus" pitchFamily="34" charset="-122"/>
                <a:cs typeface="Marcellus" pitchFamily="34" charset="-120"/>
              </a:rPr>
              <a:t>GOAT</a:t>
            </a:r>
            <a:endParaRPr lang="en-US" sz="2550" dirty="0"/>
          </a:p>
        </p:txBody>
      </p:sp>
      <p:sp>
        <p:nvSpPr>
          <p:cNvPr id="28" name="Text 21"/>
          <p:cNvSpPr/>
          <p:nvPr/>
        </p:nvSpPr>
        <p:spPr>
          <a:xfrm>
            <a:off x="7678222" y="6933367"/>
            <a:ext cx="5908596"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The all-around leader in every way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719"/>
          </a:xfrm>
          <a:prstGeom prst="rect">
            <a:avLst/>
          </a:prstGeom>
        </p:spPr>
      </p:pic>
      <p:sp>
        <p:nvSpPr>
          <p:cNvPr id="3" name="Text 0"/>
          <p:cNvSpPr/>
          <p:nvPr/>
        </p:nvSpPr>
        <p:spPr>
          <a:xfrm>
            <a:off x="6217920" y="574715"/>
            <a:ext cx="7680960" cy="1562338"/>
          </a:xfrm>
          <a:prstGeom prst="rect">
            <a:avLst/>
          </a:prstGeom>
          <a:noFill/>
          <a:ln/>
        </p:spPr>
        <p:txBody>
          <a:bodyPr wrap="square" lIns="0" tIns="0" rIns="0" bIns="0" rtlCol="0" anchor="t"/>
          <a:lstStyle/>
          <a:p>
            <a:pPr marL="0" indent="0" algn="l">
              <a:lnSpc>
                <a:spcPts val="6150"/>
              </a:lnSpc>
              <a:buNone/>
            </a:pPr>
            <a:r>
              <a:rPr lang="en-US" sz="4700" dirty="0">
                <a:solidFill>
                  <a:srgbClr val="532418"/>
                </a:solidFill>
                <a:latin typeface="Marcellus" pitchFamily="34" charset="0"/>
                <a:ea typeface="Marcellus" pitchFamily="34" charset="-122"/>
                <a:cs typeface="Marcellus" pitchFamily="34" charset="-120"/>
              </a:rPr>
              <a:t>Available Mobile Brands on RMDU</a:t>
            </a:r>
            <a:endParaRPr lang="en-US" sz="4700" dirty="0"/>
          </a:p>
        </p:txBody>
      </p:sp>
      <p:sp>
        <p:nvSpPr>
          <p:cNvPr id="4" name="Text 1"/>
          <p:cNvSpPr/>
          <p:nvPr/>
        </p:nvSpPr>
        <p:spPr>
          <a:xfrm>
            <a:off x="6217920" y="2450544"/>
            <a:ext cx="7680960" cy="815102"/>
          </a:xfrm>
          <a:prstGeom prst="rect">
            <a:avLst/>
          </a:prstGeom>
          <a:noFill/>
          <a:ln/>
        </p:spPr>
        <p:txBody>
          <a:bodyPr wrap="square" lIns="0" tIns="0" rIns="0" bIns="0" rtlCol="0" anchor="t"/>
          <a:lstStyle/>
          <a:p>
            <a:pPr marL="0" indent="0" algn="l">
              <a:lnSpc>
                <a:spcPts val="2100"/>
              </a:lnSpc>
              <a:buNone/>
            </a:pPr>
            <a:r>
              <a:rPr lang="en-US" sz="1600" dirty="0">
                <a:solidFill>
                  <a:srgbClr val="67534F"/>
                </a:solidFill>
                <a:latin typeface="Montserrat" pitchFamily="34" charset="0"/>
                <a:ea typeface="Montserrat" pitchFamily="34" charset="-122"/>
                <a:cs typeface="Montserrat" pitchFamily="34" charset="-120"/>
              </a:rPr>
              <a:t>At RMDU Mobile, we feature only the top-performing and most trusted smartphone brands — hand-picked through honest testing, verified reviews, and real-world user experience.</a:t>
            </a:r>
            <a:endParaRPr lang="en-US" sz="1600" dirty="0"/>
          </a:p>
        </p:txBody>
      </p:sp>
      <p:sp>
        <p:nvSpPr>
          <p:cNvPr id="5" name="Text 2"/>
          <p:cNvSpPr/>
          <p:nvPr/>
        </p:nvSpPr>
        <p:spPr>
          <a:xfrm>
            <a:off x="6217920" y="3500795"/>
            <a:ext cx="7680960" cy="271701"/>
          </a:xfrm>
          <a:prstGeom prst="rect">
            <a:avLst/>
          </a:prstGeom>
          <a:noFill/>
          <a:ln/>
        </p:spPr>
        <p:txBody>
          <a:bodyPr wrap="none" lIns="0" tIns="0" rIns="0" bIns="0" rtlCol="0" anchor="t"/>
          <a:lstStyle/>
          <a:p>
            <a:pPr marL="0" indent="0" algn="l">
              <a:lnSpc>
                <a:spcPts val="2100"/>
              </a:lnSpc>
              <a:buNone/>
            </a:pPr>
            <a:r>
              <a:rPr lang="en-US" sz="1600" dirty="0">
                <a:solidFill>
                  <a:srgbClr val="67534F"/>
                </a:solidFill>
                <a:latin typeface="Montserrat" pitchFamily="34" charset="0"/>
                <a:ea typeface="Montserrat" pitchFamily="34" charset="-122"/>
                <a:cs typeface="Montserrat" pitchFamily="34" charset="-120"/>
              </a:rPr>
              <a:t>We don’t promote brands. We promote the right phone for you.</a:t>
            </a:r>
            <a:endParaRPr lang="en-US" sz="1600" dirty="0"/>
          </a:p>
        </p:txBody>
      </p:sp>
      <p:sp>
        <p:nvSpPr>
          <p:cNvPr id="6" name="Text 3"/>
          <p:cNvSpPr/>
          <p:nvPr/>
        </p:nvSpPr>
        <p:spPr>
          <a:xfrm>
            <a:off x="6217920" y="4216598"/>
            <a:ext cx="1947386" cy="781288"/>
          </a:xfrm>
          <a:prstGeom prst="rect">
            <a:avLst/>
          </a:prstGeom>
          <a:noFill/>
          <a:ln/>
        </p:spPr>
        <p:txBody>
          <a:bodyPr wrap="square" lIns="0" tIns="0" rIns="0" bIns="0" rtlCol="0" anchor="t"/>
          <a:lstStyle/>
          <a:p>
            <a:pPr marL="0" indent="0" algn="l">
              <a:lnSpc>
                <a:spcPts val="3050"/>
              </a:lnSpc>
              <a:buNone/>
            </a:pPr>
            <a:r>
              <a:rPr lang="en-US" sz="2350" dirty="0">
                <a:solidFill>
                  <a:srgbClr val="000000"/>
                </a:solidFill>
                <a:latin typeface="Marcellus" pitchFamily="34" charset="0"/>
                <a:ea typeface="Marcellus" pitchFamily="34" charset="-122"/>
                <a:cs typeface="Marcellus" pitchFamily="34" charset="-120"/>
              </a:rPr>
              <a:t>💎</a:t>
            </a:r>
            <a:r>
              <a:rPr lang="en-US" sz="2350" dirty="0">
                <a:solidFill>
                  <a:srgbClr val="532418"/>
                </a:solidFill>
                <a:latin typeface="Marcellus" pitchFamily="34" charset="0"/>
                <a:ea typeface="Marcellus" pitchFamily="34" charset="-122"/>
                <a:cs typeface="Marcellus" pitchFamily="34" charset="-120"/>
              </a:rPr>
              <a:t> Premium Flagships</a:t>
            </a:r>
            <a:endParaRPr lang="en-US" sz="2350" dirty="0"/>
          </a:p>
        </p:txBody>
      </p:sp>
      <p:sp>
        <p:nvSpPr>
          <p:cNvPr id="7" name="Text 4"/>
          <p:cNvSpPr/>
          <p:nvPr/>
        </p:nvSpPr>
        <p:spPr>
          <a:xfrm>
            <a:off x="6217920" y="5206841"/>
            <a:ext cx="1947386"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Apple </a:t>
            </a:r>
            <a:endParaRPr lang="en-US" sz="1600" dirty="0"/>
          </a:p>
        </p:txBody>
      </p:sp>
      <p:sp>
        <p:nvSpPr>
          <p:cNvPr id="8" name="Text 5"/>
          <p:cNvSpPr/>
          <p:nvPr/>
        </p:nvSpPr>
        <p:spPr>
          <a:xfrm>
            <a:off x="6217920" y="5551646"/>
            <a:ext cx="1947386" cy="543401"/>
          </a:xfrm>
          <a:prstGeom prst="rect">
            <a:avLst/>
          </a:prstGeom>
          <a:noFill/>
          <a:ln/>
        </p:spPr>
        <p:txBody>
          <a:bodyPr wrap="squar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Samsung Galaxy Series</a:t>
            </a:r>
            <a:endParaRPr lang="en-US" sz="1600" dirty="0"/>
          </a:p>
        </p:txBody>
      </p:sp>
      <p:sp>
        <p:nvSpPr>
          <p:cNvPr id="9" name="Text 6"/>
          <p:cNvSpPr/>
          <p:nvPr/>
        </p:nvSpPr>
        <p:spPr>
          <a:xfrm>
            <a:off x="6217920" y="6168152"/>
            <a:ext cx="1947386"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OnePlus</a:t>
            </a:r>
            <a:endParaRPr lang="en-US" sz="1600" dirty="0"/>
          </a:p>
        </p:txBody>
      </p:sp>
      <p:sp>
        <p:nvSpPr>
          <p:cNvPr id="10" name="Text 7"/>
          <p:cNvSpPr/>
          <p:nvPr/>
        </p:nvSpPr>
        <p:spPr>
          <a:xfrm>
            <a:off x="6217920" y="6512957"/>
            <a:ext cx="1947386"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iQOO</a:t>
            </a:r>
            <a:endParaRPr lang="en-US" sz="1600" dirty="0"/>
          </a:p>
        </p:txBody>
      </p:sp>
      <p:sp>
        <p:nvSpPr>
          <p:cNvPr id="11" name="Text 8"/>
          <p:cNvSpPr/>
          <p:nvPr/>
        </p:nvSpPr>
        <p:spPr>
          <a:xfrm>
            <a:off x="8682752" y="4216598"/>
            <a:ext cx="2399467" cy="1171932"/>
          </a:xfrm>
          <a:prstGeom prst="rect">
            <a:avLst/>
          </a:prstGeom>
          <a:noFill/>
          <a:ln/>
        </p:spPr>
        <p:txBody>
          <a:bodyPr wrap="square" lIns="0" tIns="0" rIns="0" bIns="0" rtlCol="0" anchor="t"/>
          <a:lstStyle/>
          <a:p>
            <a:pPr marL="0" indent="0" algn="l">
              <a:lnSpc>
                <a:spcPts val="3050"/>
              </a:lnSpc>
              <a:buNone/>
            </a:pPr>
            <a:r>
              <a:rPr lang="en-US" sz="2350" dirty="0">
                <a:solidFill>
                  <a:srgbClr val="000000"/>
                </a:solidFill>
                <a:latin typeface="Marcellus" pitchFamily="34" charset="0"/>
                <a:ea typeface="Marcellus" pitchFamily="34" charset="-122"/>
                <a:cs typeface="Marcellus" pitchFamily="34" charset="-120"/>
              </a:rPr>
              <a:t>🎮</a:t>
            </a:r>
            <a:r>
              <a:rPr lang="en-US" sz="2350" dirty="0">
                <a:solidFill>
                  <a:srgbClr val="532418"/>
                </a:solidFill>
                <a:latin typeface="Marcellus" pitchFamily="34" charset="0"/>
                <a:ea typeface="Marcellus" pitchFamily="34" charset="-122"/>
                <a:cs typeface="Marcellus" pitchFamily="34" charset="-120"/>
              </a:rPr>
              <a:t>Performance &amp;Gaming Masters</a:t>
            </a:r>
            <a:endParaRPr lang="en-US" sz="2350" dirty="0"/>
          </a:p>
        </p:txBody>
      </p:sp>
      <p:sp>
        <p:nvSpPr>
          <p:cNvPr id="12" name="Text 9"/>
          <p:cNvSpPr/>
          <p:nvPr/>
        </p:nvSpPr>
        <p:spPr>
          <a:xfrm>
            <a:off x="8682752" y="5597485"/>
            <a:ext cx="239946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ASUS ROG</a:t>
            </a:r>
            <a:endParaRPr lang="en-US" sz="1600" dirty="0"/>
          </a:p>
        </p:txBody>
      </p:sp>
      <p:sp>
        <p:nvSpPr>
          <p:cNvPr id="13" name="Text 10"/>
          <p:cNvSpPr/>
          <p:nvPr/>
        </p:nvSpPr>
        <p:spPr>
          <a:xfrm>
            <a:off x="8682752" y="5942290"/>
            <a:ext cx="239946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Poco</a:t>
            </a:r>
            <a:endParaRPr lang="en-US" sz="1600" dirty="0"/>
          </a:p>
        </p:txBody>
      </p:sp>
      <p:sp>
        <p:nvSpPr>
          <p:cNvPr id="14" name="Text 11"/>
          <p:cNvSpPr/>
          <p:nvPr/>
        </p:nvSpPr>
        <p:spPr>
          <a:xfrm>
            <a:off x="8682752" y="6287095"/>
            <a:ext cx="239946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Infinix</a:t>
            </a:r>
            <a:endParaRPr lang="en-US" sz="1600" dirty="0"/>
          </a:p>
        </p:txBody>
      </p:sp>
      <p:sp>
        <p:nvSpPr>
          <p:cNvPr id="15" name="Text 12"/>
          <p:cNvSpPr/>
          <p:nvPr/>
        </p:nvSpPr>
        <p:spPr>
          <a:xfrm>
            <a:off x="8682752" y="6631900"/>
            <a:ext cx="239946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Nothing Phone</a:t>
            </a:r>
            <a:endParaRPr lang="en-US" sz="1600" dirty="0"/>
          </a:p>
        </p:txBody>
      </p:sp>
      <p:sp>
        <p:nvSpPr>
          <p:cNvPr id="16" name="Text 13"/>
          <p:cNvSpPr/>
          <p:nvPr/>
        </p:nvSpPr>
        <p:spPr>
          <a:xfrm>
            <a:off x="11599664" y="4216598"/>
            <a:ext cx="2314337" cy="781288"/>
          </a:xfrm>
          <a:prstGeom prst="rect">
            <a:avLst/>
          </a:prstGeom>
          <a:noFill/>
          <a:ln/>
        </p:spPr>
        <p:txBody>
          <a:bodyPr wrap="square" lIns="0" tIns="0" rIns="0" bIns="0" rtlCol="0" anchor="t"/>
          <a:lstStyle/>
          <a:p>
            <a:pPr marL="0" indent="0" algn="l">
              <a:lnSpc>
                <a:spcPts val="3050"/>
              </a:lnSpc>
              <a:buNone/>
            </a:pPr>
            <a:r>
              <a:rPr lang="en-US" sz="2350" dirty="0">
                <a:solidFill>
                  <a:srgbClr val="000000"/>
                </a:solidFill>
                <a:latin typeface="Marcellus" pitchFamily="34" charset="0"/>
                <a:ea typeface="Marcellus" pitchFamily="34" charset="-122"/>
                <a:cs typeface="Marcellus" pitchFamily="34" charset="-120"/>
              </a:rPr>
              <a:t>💸</a:t>
            </a:r>
            <a:r>
              <a:rPr lang="en-US" sz="2350" dirty="0">
                <a:solidFill>
                  <a:srgbClr val="532418"/>
                </a:solidFill>
                <a:latin typeface="Marcellus" pitchFamily="34" charset="0"/>
                <a:ea typeface="Marcellus" pitchFamily="34" charset="-122"/>
                <a:cs typeface="Marcellus" pitchFamily="34" charset="-120"/>
              </a:rPr>
              <a:t> Budget &amp; Value Leaders</a:t>
            </a:r>
            <a:endParaRPr lang="en-US" sz="2350" dirty="0"/>
          </a:p>
        </p:txBody>
      </p:sp>
      <p:sp>
        <p:nvSpPr>
          <p:cNvPr id="17" name="Text 14"/>
          <p:cNvSpPr/>
          <p:nvPr/>
        </p:nvSpPr>
        <p:spPr>
          <a:xfrm>
            <a:off x="11599664" y="5206841"/>
            <a:ext cx="231433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Redmi</a:t>
            </a:r>
            <a:endParaRPr lang="en-US" sz="1600" dirty="0"/>
          </a:p>
        </p:txBody>
      </p:sp>
      <p:sp>
        <p:nvSpPr>
          <p:cNvPr id="18" name="Text 15"/>
          <p:cNvSpPr/>
          <p:nvPr/>
        </p:nvSpPr>
        <p:spPr>
          <a:xfrm>
            <a:off x="11599664" y="5551646"/>
            <a:ext cx="231433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Realme</a:t>
            </a:r>
            <a:endParaRPr lang="en-US" sz="1600" dirty="0"/>
          </a:p>
        </p:txBody>
      </p:sp>
      <p:sp>
        <p:nvSpPr>
          <p:cNvPr id="19" name="Text 16"/>
          <p:cNvSpPr/>
          <p:nvPr/>
        </p:nvSpPr>
        <p:spPr>
          <a:xfrm>
            <a:off x="11599664" y="5896451"/>
            <a:ext cx="2314337" cy="543401"/>
          </a:xfrm>
          <a:prstGeom prst="rect">
            <a:avLst/>
          </a:prstGeom>
          <a:noFill/>
          <a:ln/>
        </p:spPr>
        <p:txBody>
          <a:bodyPr wrap="squar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OnePlus Nord Series</a:t>
            </a:r>
            <a:endParaRPr lang="en-US" sz="1600" dirty="0"/>
          </a:p>
        </p:txBody>
      </p:sp>
      <p:sp>
        <p:nvSpPr>
          <p:cNvPr id="20" name="Text 17"/>
          <p:cNvSpPr/>
          <p:nvPr/>
        </p:nvSpPr>
        <p:spPr>
          <a:xfrm>
            <a:off x="11599664" y="6512957"/>
            <a:ext cx="231433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Tecno</a:t>
            </a:r>
            <a:endParaRPr lang="en-US" sz="1600" dirty="0"/>
          </a:p>
        </p:txBody>
      </p:sp>
      <p:sp>
        <p:nvSpPr>
          <p:cNvPr id="21" name="Text 18"/>
          <p:cNvSpPr/>
          <p:nvPr/>
        </p:nvSpPr>
        <p:spPr>
          <a:xfrm>
            <a:off x="11599664" y="6857762"/>
            <a:ext cx="2314337" cy="271701"/>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67534F"/>
                </a:solidFill>
                <a:latin typeface="Montserrat" pitchFamily="34" charset="0"/>
                <a:ea typeface="Montserrat" pitchFamily="34" charset="-122"/>
                <a:cs typeface="Montserrat" pitchFamily="34" charset="-120"/>
              </a:rPr>
              <a:t>Motorola</a:t>
            </a:r>
            <a:endParaRPr lang="en-US" sz="1600" dirty="0"/>
          </a:p>
        </p:txBody>
      </p:sp>
      <p:sp>
        <p:nvSpPr>
          <p:cNvPr id="22" name="Text 19"/>
          <p:cNvSpPr/>
          <p:nvPr/>
        </p:nvSpPr>
        <p:spPr>
          <a:xfrm>
            <a:off x="6217920" y="7437715"/>
            <a:ext cx="7680960" cy="217289"/>
          </a:xfrm>
          <a:prstGeom prst="rect">
            <a:avLst/>
          </a:prstGeom>
          <a:noFill/>
          <a:ln/>
        </p:spPr>
        <p:txBody>
          <a:bodyPr wrap="none" lIns="0" tIns="0" rIns="0" bIns="0" rtlCol="0" anchor="t"/>
          <a:lstStyle/>
          <a:p>
            <a:pPr marL="0" indent="0" algn="l">
              <a:lnSpc>
                <a:spcPts val="1700"/>
              </a:lnSpc>
              <a:buNone/>
            </a:pPr>
            <a:r>
              <a:rPr lang="en-US" sz="1300" dirty="0">
                <a:solidFill>
                  <a:srgbClr val="67534F"/>
                </a:solidFill>
                <a:latin typeface="Montserrat" pitchFamily="34" charset="0"/>
                <a:ea typeface="Montserrat" pitchFamily="34" charset="-122"/>
                <a:cs typeface="Montserrat" pitchFamily="34" charset="-120"/>
              </a:rPr>
              <a:t>“Every brand. One platform. Real performance — not promotion.”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38545" y="1038820"/>
            <a:ext cx="6456759" cy="631031"/>
          </a:xfrm>
          <a:prstGeom prst="rect">
            <a:avLst/>
          </a:prstGeom>
          <a:noFill/>
          <a:ln/>
        </p:spPr>
        <p:txBody>
          <a:bodyPr wrap="none" lIns="0" tIns="0" rIns="0" bIns="0" rtlCol="0" anchor="t"/>
          <a:lstStyle/>
          <a:p>
            <a:pPr marL="0" indent="0" algn="l">
              <a:lnSpc>
                <a:spcPts val="4950"/>
              </a:lnSpc>
              <a:buNone/>
            </a:pPr>
            <a:r>
              <a:rPr lang="en-US" sz="3800" dirty="0">
                <a:solidFill>
                  <a:srgbClr val="532418"/>
                </a:solidFill>
                <a:latin typeface="Marcellus" pitchFamily="34" charset="0"/>
                <a:ea typeface="Marcellus" pitchFamily="34" charset="-122"/>
                <a:cs typeface="Marcellus" pitchFamily="34" charset="-120"/>
              </a:rPr>
              <a:t>Built on Transparency &amp; Trust</a:t>
            </a:r>
            <a:endParaRPr lang="en-US" sz="3800" dirty="0"/>
          </a:p>
        </p:txBody>
      </p:sp>
      <p:sp>
        <p:nvSpPr>
          <p:cNvPr id="4" name="Shape 1"/>
          <p:cNvSpPr/>
          <p:nvPr/>
        </p:nvSpPr>
        <p:spPr>
          <a:xfrm>
            <a:off x="738545" y="1986320"/>
            <a:ext cx="3727966" cy="2085380"/>
          </a:xfrm>
          <a:prstGeom prst="roundRect">
            <a:avLst>
              <a:gd name="adj" fmla="val 5262"/>
            </a:avLst>
          </a:prstGeom>
          <a:solidFill>
            <a:srgbClr val="FFFFF4">
              <a:alpha val="95000"/>
            </a:srgbClr>
          </a:solidFill>
          <a:ln w="22860">
            <a:solidFill>
              <a:srgbClr val="FFE0CC"/>
            </a:solidFill>
            <a:prstDash val="solid"/>
          </a:ln>
        </p:spPr>
        <p:txBody>
          <a:bodyPr/>
          <a:lstStyle/>
          <a:p>
            <a:endParaRPr lang="en-IN"/>
          </a:p>
        </p:txBody>
      </p:sp>
      <p:sp>
        <p:nvSpPr>
          <p:cNvPr id="5" name="Shape 2"/>
          <p:cNvSpPr/>
          <p:nvPr/>
        </p:nvSpPr>
        <p:spPr>
          <a:xfrm>
            <a:off x="715685" y="1986320"/>
            <a:ext cx="91440" cy="2085380"/>
          </a:xfrm>
          <a:prstGeom prst="roundRect">
            <a:avLst>
              <a:gd name="adj" fmla="val 96929"/>
            </a:avLst>
          </a:prstGeom>
          <a:solidFill>
            <a:srgbClr val="FF954F"/>
          </a:solidFill>
          <a:ln/>
        </p:spPr>
        <p:txBody>
          <a:bodyPr/>
          <a:lstStyle/>
          <a:p>
            <a:endParaRPr lang="en-IN"/>
          </a:p>
        </p:txBody>
      </p:sp>
      <p:sp>
        <p:nvSpPr>
          <p:cNvPr id="6" name="Text 3"/>
          <p:cNvSpPr/>
          <p:nvPr/>
        </p:nvSpPr>
        <p:spPr>
          <a:xfrm>
            <a:off x="1040963" y="2220158"/>
            <a:ext cx="3033474" cy="394335"/>
          </a:xfrm>
          <a:prstGeom prst="rect">
            <a:avLst/>
          </a:prstGeom>
          <a:noFill/>
          <a:ln/>
        </p:spPr>
        <p:txBody>
          <a:bodyPr wrap="none" lIns="0" tIns="0" rIns="0" bIns="0" rtlCol="0" anchor="t"/>
          <a:lstStyle/>
          <a:p>
            <a:pPr marL="0" indent="0" algn="l">
              <a:lnSpc>
                <a:spcPts val="3100"/>
              </a:lnSpc>
              <a:buNone/>
            </a:pPr>
            <a:r>
              <a:rPr lang="en-US" sz="2350" dirty="0">
                <a:solidFill>
                  <a:srgbClr val="67534F"/>
                </a:solidFill>
                <a:latin typeface="Marcellus" pitchFamily="34" charset="0"/>
                <a:ea typeface="Marcellus" pitchFamily="34" charset="-122"/>
                <a:cs typeface="Marcellus" pitchFamily="34" charset="-120"/>
              </a:rPr>
              <a:t>Verified User Reviews</a:t>
            </a:r>
            <a:endParaRPr lang="en-US" sz="2350" dirty="0"/>
          </a:p>
        </p:txBody>
      </p:sp>
      <p:sp>
        <p:nvSpPr>
          <p:cNvPr id="7" name="Text 4"/>
          <p:cNvSpPr/>
          <p:nvPr/>
        </p:nvSpPr>
        <p:spPr>
          <a:xfrm>
            <a:off x="1040963" y="2741057"/>
            <a:ext cx="3191708" cy="1096804"/>
          </a:xfrm>
          <a:prstGeom prst="rect">
            <a:avLst/>
          </a:prstGeom>
          <a:noFill/>
          <a:ln/>
        </p:spPr>
        <p:txBody>
          <a:bodyPr wrap="square" lIns="0" tIns="0" rIns="0" bIns="0" rtlCol="0" anchor="t"/>
          <a:lstStyle/>
          <a:p>
            <a:pPr marL="0" indent="0" algn="l">
              <a:lnSpc>
                <a:spcPts val="2150"/>
              </a:lnSpc>
              <a:buNone/>
            </a:pPr>
            <a:r>
              <a:rPr lang="en-US" sz="1650" dirty="0">
                <a:solidFill>
                  <a:srgbClr val="67534F"/>
                </a:solidFill>
                <a:latin typeface="Montserrat" pitchFamily="34" charset="0"/>
                <a:ea typeface="Montserrat" pitchFamily="34" charset="-122"/>
                <a:cs typeface="Montserrat" pitchFamily="34" charset="-120"/>
              </a:rPr>
              <a:t>Real ownership experiences from verified purchasers, not influencer testimonials or brand partnerships.</a:t>
            </a:r>
            <a:endParaRPr lang="en-US" sz="1650" dirty="0"/>
          </a:p>
        </p:txBody>
      </p:sp>
      <p:sp>
        <p:nvSpPr>
          <p:cNvPr id="8" name="Shape 5"/>
          <p:cNvSpPr/>
          <p:nvPr/>
        </p:nvSpPr>
        <p:spPr>
          <a:xfrm>
            <a:off x="4677489" y="1986320"/>
            <a:ext cx="3727966" cy="2085380"/>
          </a:xfrm>
          <a:prstGeom prst="roundRect">
            <a:avLst>
              <a:gd name="adj" fmla="val 5262"/>
            </a:avLst>
          </a:prstGeom>
          <a:solidFill>
            <a:srgbClr val="FFFFF4">
              <a:alpha val="95000"/>
            </a:srgbClr>
          </a:solidFill>
          <a:ln w="22860">
            <a:solidFill>
              <a:srgbClr val="FFE0CC"/>
            </a:solidFill>
            <a:prstDash val="solid"/>
          </a:ln>
        </p:spPr>
        <p:txBody>
          <a:bodyPr/>
          <a:lstStyle/>
          <a:p>
            <a:endParaRPr lang="en-IN"/>
          </a:p>
        </p:txBody>
      </p:sp>
      <p:sp>
        <p:nvSpPr>
          <p:cNvPr id="9" name="Shape 6"/>
          <p:cNvSpPr/>
          <p:nvPr/>
        </p:nvSpPr>
        <p:spPr>
          <a:xfrm>
            <a:off x="4654629" y="1986320"/>
            <a:ext cx="91440" cy="2085380"/>
          </a:xfrm>
          <a:prstGeom prst="roundRect">
            <a:avLst>
              <a:gd name="adj" fmla="val 96929"/>
            </a:avLst>
          </a:prstGeom>
          <a:solidFill>
            <a:srgbClr val="FF954F"/>
          </a:solidFill>
          <a:ln/>
        </p:spPr>
        <p:txBody>
          <a:bodyPr/>
          <a:lstStyle/>
          <a:p>
            <a:endParaRPr lang="en-IN"/>
          </a:p>
        </p:txBody>
      </p:sp>
      <p:sp>
        <p:nvSpPr>
          <p:cNvPr id="10" name="Text 7"/>
          <p:cNvSpPr/>
          <p:nvPr/>
        </p:nvSpPr>
        <p:spPr>
          <a:xfrm>
            <a:off x="4979908" y="2220158"/>
            <a:ext cx="3033474" cy="394335"/>
          </a:xfrm>
          <a:prstGeom prst="rect">
            <a:avLst/>
          </a:prstGeom>
          <a:noFill/>
          <a:ln/>
        </p:spPr>
        <p:txBody>
          <a:bodyPr wrap="none" lIns="0" tIns="0" rIns="0" bIns="0" rtlCol="0" anchor="t"/>
          <a:lstStyle/>
          <a:p>
            <a:pPr marL="0" indent="0" algn="l">
              <a:lnSpc>
                <a:spcPts val="3100"/>
              </a:lnSpc>
              <a:buNone/>
            </a:pPr>
            <a:r>
              <a:rPr lang="en-US" sz="2350" dirty="0">
                <a:solidFill>
                  <a:srgbClr val="67534F"/>
                </a:solidFill>
                <a:latin typeface="Marcellus" pitchFamily="34" charset="0"/>
                <a:ea typeface="Marcellus" pitchFamily="34" charset="-122"/>
                <a:cs typeface="Marcellus" pitchFamily="34" charset="-120"/>
              </a:rPr>
              <a:t>Zero Brand Bias</a:t>
            </a:r>
            <a:endParaRPr lang="en-US" sz="2350" dirty="0"/>
          </a:p>
        </p:txBody>
      </p:sp>
      <p:sp>
        <p:nvSpPr>
          <p:cNvPr id="11" name="Text 8"/>
          <p:cNvSpPr/>
          <p:nvPr/>
        </p:nvSpPr>
        <p:spPr>
          <a:xfrm>
            <a:off x="4979908" y="2741057"/>
            <a:ext cx="3191708" cy="822603"/>
          </a:xfrm>
          <a:prstGeom prst="rect">
            <a:avLst/>
          </a:prstGeom>
          <a:noFill/>
          <a:ln/>
        </p:spPr>
        <p:txBody>
          <a:bodyPr wrap="square" lIns="0" tIns="0" rIns="0" bIns="0" rtlCol="0" anchor="t"/>
          <a:lstStyle/>
          <a:p>
            <a:pPr marL="0" indent="0" algn="l">
              <a:lnSpc>
                <a:spcPts val="2150"/>
              </a:lnSpc>
              <a:buNone/>
            </a:pPr>
            <a:r>
              <a:rPr lang="en-US" sz="1650" dirty="0">
                <a:solidFill>
                  <a:srgbClr val="67534F"/>
                </a:solidFill>
                <a:latin typeface="Montserrat" pitchFamily="34" charset="0"/>
                <a:ea typeface="Montserrat" pitchFamily="34" charset="-122"/>
                <a:cs typeface="Montserrat" pitchFamily="34" charset="-120"/>
              </a:rPr>
              <a:t>We earn nothing from what you choose. Your satisfaction is our only metric for success.</a:t>
            </a:r>
            <a:endParaRPr lang="en-US" sz="1650" dirty="0"/>
          </a:p>
        </p:txBody>
      </p:sp>
      <p:sp>
        <p:nvSpPr>
          <p:cNvPr id="12" name="Shape 9"/>
          <p:cNvSpPr/>
          <p:nvPr/>
        </p:nvSpPr>
        <p:spPr>
          <a:xfrm>
            <a:off x="738545" y="4282678"/>
            <a:ext cx="3727966" cy="2907983"/>
          </a:xfrm>
          <a:prstGeom prst="roundRect">
            <a:avLst>
              <a:gd name="adj" fmla="val 3773"/>
            </a:avLst>
          </a:prstGeom>
          <a:solidFill>
            <a:srgbClr val="FFFFF4">
              <a:alpha val="95000"/>
            </a:srgbClr>
          </a:solidFill>
          <a:ln w="22860">
            <a:solidFill>
              <a:srgbClr val="FFE0CC"/>
            </a:solidFill>
            <a:prstDash val="solid"/>
          </a:ln>
        </p:spPr>
        <p:txBody>
          <a:bodyPr/>
          <a:lstStyle/>
          <a:p>
            <a:endParaRPr lang="en-IN"/>
          </a:p>
        </p:txBody>
      </p:sp>
      <p:sp>
        <p:nvSpPr>
          <p:cNvPr id="13" name="Shape 10"/>
          <p:cNvSpPr/>
          <p:nvPr/>
        </p:nvSpPr>
        <p:spPr>
          <a:xfrm>
            <a:off x="715685" y="4282678"/>
            <a:ext cx="91440" cy="2907983"/>
          </a:xfrm>
          <a:prstGeom prst="roundRect">
            <a:avLst>
              <a:gd name="adj" fmla="val 96929"/>
            </a:avLst>
          </a:prstGeom>
          <a:solidFill>
            <a:srgbClr val="FF954F"/>
          </a:solidFill>
          <a:ln/>
        </p:spPr>
        <p:txBody>
          <a:bodyPr/>
          <a:lstStyle/>
          <a:p>
            <a:endParaRPr lang="en-IN"/>
          </a:p>
        </p:txBody>
      </p:sp>
      <p:sp>
        <p:nvSpPr>
          <p:cNvPr id="14" name="Text 11"/>
          <p:cNvSpPr/>
          <p:nvPr/>
        </p:nvSpPr>
        <p:spPr>
          <a:xfrm>
            <a:off x="1040963" y="4516517"/>
            <a:ext cx="3033474" cy="394335"/>
          </a:xfrm>
          <a:prstGeom prst="rect">
            <a:avLst/>
          </a:prstGeom>
          <a:noFill/>
          <a:ln/>
        </p:spPr>
        <p:txBody>
          <a:bodyPr wrap="none" lIns="0" tIns="0" rIns="0" bIns="0" rtlCol="0" anchor="t"/>
          <a:lstStyle/>
          <a:p>
            <a:pPr marL="0" indent="0" algn="l">
              <a:lnSpc>
                <a:spcPts val="3100"/>
              </a:lnSpc>
              <a:buNone/>
            </a:pPr>
            <a:r>
              <a:rPr lang="en-US" sz="2350" dirty="0">
                <a:solidFill>
                  <a:srgbClr val="67534F"/>
                </a:solidFill>
                <a:latin typeface="Marcellus" pitchFamily="34" charset="0"/>
                <a:ea typeface="Marcellus" pitchFamily="34" charset="-122"/>
                <a:cs typeface="Marcellus" pitchFamily="34" charset="-120"/>
              </a:rPr>
              <a:t>Regular Updates</a:t>
            </a:r>
            <a:endParaRPr lang="en-US" sz="2350" dirty="0"/>
          </a:p>
        </p:txBody>
      </p:sp>
      <p:sp>
        <p:nvSpPr>
          <p:cNvPr id="15" name="Text 12"/>
          <p:cNvSpPr/>
          <p:nvPr/>
        </p:nvSpPr>
        <p:spPr>
          <a:xfrm>
            <a:off x="1040963" y="5037415"/>
            <a:ext cx="3191708" cy="1371005"/>
          </a:xfrm>
          <a:prstGeom prst="rect">
            <a:avLst/>
          </a:prstGeom>
          <a:noFill/>
          <a:ln/>
        </p:spPr>
        <p:txBody>
          <a:bodyPr wrap="square" lIns="0" tIns="0" rIns="0" bIns="0" rtlCol="0" anchor="t"/>
          <a:lstStyle/>
          <a:p>
            <a:pPr marL="0" indent="0" algn="l">
              <a:lnSpc>
                <a:spcPts val="2150"/>
              </a:lnSpc>
              <a:buNone/>
            </a:pPr>
            <a:r>
              <a:rPr lang="en-US" sz="1650" dirty="0">
                <a:solidFill>
                  <a:srgbClr val="67534F"/>
                </a:solidFill>
                <a:latin typeface="Montserrat" pitchFamily="34" charset="0"/>
                <a:ea typeface="Montserrat" pitchFamily="34" charset="-122"/>
                <a:cs typeface="Montserrat" pitchFamily="34" charset="-120"/>
              </a:rPr>
              <a:t>Market changes fast. Our data refreshes continuously to reflect current prices, new releases, and evolving performance standards.</a:t>
            </a:r>
            <a:endParaRPr lang="en-US" sz="1650" dirty="0"/>
          </a:p>
        </p:txBody>
      </p:sp>
      <p:sp>
        <p:nvSpPr>
          <p:cNvPr id="16" name="Shape 13"/>
          <p:cNvSpPr/>
          <p:nvPr/>
        </p:nvSpPr>
        <p:spPr>
          <a:xfrm>
            <a:off x="4677489" y="4282678"/>
            <a:ext cx="3727966" cy="2907983"/>
          </a:xfrm>
          <a:prstGeom prst="roundRect">
            <a:avLst>
              <a:gd name="adj" fmla="val 3773"/>
            </a:avLst>
          </a:prstGeom>
          <a:solidFill>
            <a:srgbClr val="FFFFF4">
              <a:alpha val="95000"/>
            </a:srgbClr>
          </a:solidFill>
          <a:ln w="22860">
            <a:solidFill>
              <a:srgbClr val="FFE0CC"/>
            </a:solidFill>
            <a:prstDash val="solid"/>
          </a:ln>
        </p:spPr>
        <p:txBody>
          <a:bodyPr/>
          <a:lstStyle/>
          <a:p>
            <a:endParaRPr lang="en-IN"/>
          </a:p>
        </p:txBody>
      </p:sp>
      <p:sp>
        <p:nvSpPr>
          <p:cNvPr id="17" name="Shape 14"/>
          <p:cNvSpPr/>
          <p:nvPr/>
        </p:nvSpPr>
        <p:spPr>
          <a:xfrm>
            <a:off x="4654629" y="4282678"/>
            <a:ext cx="91440" cy="2907983"/>
          </a:xfrm>
          <a:prstGeom prst="roundRect">
            <a:avLst>
              <a:gd name="adj" fmla="val 96929"/>
            </a:avLst>
          </a:prstGeom>
          <a:solidFill>
            <a:srgbClr val="FF954F"/>
          </a:solidFill>
          <a:ln/>
        </p:spPr>
        <p:txBody>
          <a:bodyPr/>
          <a:lstStyle/>
          <a:p>
            <a:endParaRPr lang="en-IN"/>
          </a:p>
        </p:txBody>
      </p:sp>
      <p:sp>
        <p:nvSpPr>
          <p:cNvPr id="18" name="Text 15"/>
          <p:cNvSpPr/>
          <p:nvPr/>
        </p:nvSpPr>
        <p:spPr>
          <a:xfrm>
            <a:off x="4979908" y="4516517"/>
            <a:ext cx="3033474" cy="394335"/>
          </a:xfrm>
          <a:prstGeom prst="rect">
            <a:avLst/>
          </a:prstGeom>
          <a:noFill/>
          <a:ln/>
        </p:spPr>
        <p:txBody>
          <a:bodyPr wrap="none" lIns="0" tIns="0" rIns="0" bIns="0" rtlCol="0" anchor="t"/>
          <a:lstStyle/>
          <a:p>
            <a:pPr marL="0" indent="0" algn="l">
              <a:lnSpc>
                <a:spcPts val="3100"/>
              </a:lnSpc>
              <a:buNone/>
            </a:pPr>
            <a:r>
              <a:rPr lang="en-US" sz="2350" b="1" dirty="0">
                <a:solidFill>
                  <a:srgbClr val="67534F"/>
                </a:solidFill>
                <a:latin typeface="Marcellus" pitchFamily="34" charset="0"/>
                <a:ea typeface="Marcellus" pitchFamily="34" charset="-122"/>
                <a:cs typeface="Marcellus" pitchFamily="34" charset="-120"/>
              </a:rPr>
              <a:t>Coming Soon………..</a:t>
            </a:r>
            <a:endParaRPr lang="en-US" sz="2350" dirty="0"/>
          </a:p>
        </p:txBody>
      </p:sp>
      <p:sp>
        <p:nvSpPr>
          <p:cNvPr id="19" name="Text 16"/>
          <p:cNvSpPr/>
          <p:nvPr/>
        </p:nvSpPr>
        <p:spPr>
          <a:xfrm>
            <a:off x="4979908" y="5037415"/>
            <a:ext cx="3191708" cy="1919407"/>
          </a:xfrm>
          <a:prstGeom prst="rect">
            <a:avLst/>
          </a:prstGeom>
          <a:noFill/>
          <a:ln/>
        </p:spPr>
        <p:txBody>
          <a:bodyPr wrap="square" lIns="0" tIns="0" rIns="0" bIns="0" rtlCol="0" anchor="t"/>
          <a:lstStyle/>
          <a:p>
            <a:pPr marL="0" indent="0" algn="l">
              <a:lnSpc>
                <a:spcPts val="2150"/>
              </a:lnSpc>
              <a:buNone/>
            </a:pPr>
            <a:r>
              <a:rPr lang="en-US" sz="1650" dirty="0">
                <a:solidFill>
                  <a:srgbClr val="67534F"/>
                </a:solidFill>
                <a:latin typeface="Montserrat" pitchFamily="34" charset="0"/>
                <a:ea typeface="Montserrat" pitchFamily="34" charset="-122"/>
                <a:cs typeface="Montserrat" pitchFamily="34" charset="-120"/>
              </a:rPr>
              <a:t>Every device on RMDU Mobile includes experiences shared by real users — not marketing scripts.Authentic feedback from past buyers helps you make confident, informed decisions.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97706" y="550069"/>
            <a:ext cx="6417112" cy="596027"/>
          </a:xfrm>
          <a:prstGeom prst="rect">
            <a:avLst/>
          </a:prstGeom>
          <a:noFill/>
          <a:ln/>
        </p:spPr>
        <p:txBody>
          <a:bodyPr wrap="none" lIns="0" tIns="0" rIns="0" bIns="0" rtlCol="0" anchor="t"/>
          <a:lstStyle/>
          <a:p>
            <a:pPr marL="0" indent="0" algn="l">
              <a:lnSpc>
                <a:spcPts val="4650"/>
              </a:lnSpc>
              <a:buNone/>
            </a:pPr>
            <a:r>
              <a:rPr lang="en-US" sz="3600" dirty="0">
                <a:solidFill>
                  <a:srgbClr val="532418"/>
                </a:solidFill>
                <a:latin typeface="Marcellus" pitchFamily="34" charset="0"/>
                <a:ea typeface="Marcellus" pitchFamily="34" charset="-122"/>
                <a:cs typeface="Marcellus" pitchFamily="34" charset="-120"/>
              </a:rPr>
              <a:t>Your Path to the Perfect Phone</a:t>
            </a:r>
            <a:endParaRPr lang="en-US" sz="3600" dirty="0"/>
          </a:p>
        </p:txBody>
      </p:sp>
      <p:sp>
        <p:nvSpPr>
          <p:cNvPr id="4" name="Shape 1"/>
          <p:cNvSpPr/>
          <p:nvPr/>
        </p:nvSpPr>
        <p:spPr>
          <a:xfrm>
            <a:off x="697706" y="1445062"/>
            <a:ext cx="797481" cy="1409105"/>
          </a:xfrm>
          <a:prstGeom prst="roundRect">
            <a:avLst>
              <a:gd name="adj" fmla="val 360005"/>
            </a:avLst>
          </a:prstGeom>
          <a:solidFill>
            <a:srgbClr val="FFFFF4"/>
          </a:solidFill>
          <a:ln w="22860">
            <a:solidFill>
              <a:srgbClr val="FFE0CC"/>
            </a:solidFill>
            <a:prstDash val="solid"/>
          </a:ln>
        </p:spPr>
        <p:txBody>
          <a:bodyPr/>
          <a:lstStyle/>
          <a:p>
            <a:endParaRPr lang="en-IN"/>
          </a:p>
        </p:txBody>
      </p:sp>
      <p:sp>
        <p:nvSpPr>
          <p:cNvPr id="5" name="Text 2"/>
          <p:cNvSpPr/>
          <p:nvPr/>
        </p:nvSpPr>
        <p:spPr>
          <a:xfrm>
            <a:off x="946904" y="1955244"/>
            <a:ext cx="298966" cy="388739"/>
          </a:xfrm>
          <a:prstGeom prst="rect">
            <a:avLst/>
          </a:prstGeom>
          <a:noFill/>
          <a:ln/>
        </p:spPr>
        <p:txBody>
          <a:bodyPr wrap="none" lIns="0" tIns="0" rIns="0" bIns="0" rtlCol="0" anchor="t"/>
          <a:lstStyle/>
          <a:p>
            <a:pPr marL="0" indent="0" algn="l">
              <a:lnSpc>
                <a:spcPts val="2350"/>
              </a:lnSpc>
              <a:buNone/>
            </a:pPr>
            <a:r>
              <a:rPr lang="en-US" sz="2350" dirty="0">
                <a:solidFill>
                  <a:srgbClr val="67534F"/>
                </a:solidFill>
                <a:latin typeface="Marcellus" pitchFamily="34" charset="0"/>
                <a:ea typeface="Marcellus" pitchFamily="34" charset="-122"/>
                <a:cs typeface="Marcellus" pitchFamily="34" charset="-120"/>
              </a:rPr>
              <a:t>1</a:t>
            </a:r>
            <a:endParaRPr lang="en-US" sz="2350" dirty="0"/>
          </a:p>
        </p:txBody>
      </p:sp>
      <p:sp>
        <p:nvSpPr>
          <p:cNvPr id="6" name="Text 3"/>
          <p:cNvSpPr/>
          <p:nvPr/>
        </p:nvSpPr>
        <p:spPr>
          <a:xfrm>
            <a:off x="1694498" y="1644372"/>
            <a:ext cx="2865953" cy="372547"/>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Answer Your Priorities</a:t>
            </a:r>
            <a:endParaRPr lang="en-US" sz="2250" dirty="0"/>
          </a:p>
        </p:txBody>
      </p:sp>
      <p:sp>
        <p:nvSpPr>
          <p:cNvPr id="7" name="Text 4"/>
          <p:cNvSpPr/>
          <p:nvPr/>
        </p:nvSpPr>
        <p:spPr>
          <a:xfrm>
            <a:off x="1694498" y="2136458"/>
            <a:ext cx="6751796" cy="518398"/>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Tell us what matters: budget, gaming, photography, battery life, or all-around excellence.</a:t>
            </a:r>
            <a:endParaRPr lang="en-US" sz="1550" dirty="0"/>
          </a:p>
        </p:txBody>
      </p:sp>
      <p:sp>
        <p:nvSpPr>
          <p:cNvPr id="8" name="Shape 5"/>
          <p:cNvSpPr/>
          <p:nvPr/>
        </p:nvSpPr>
        <p:spPr>
          <a:xfrm>
            <a:off x="697706" y="3053477"/>
            <a:ext cx="797481" cy="1409105"/>
          </a:xfrm>
          <a:prstGeom prst="roundRect">
            <a:avLst>
              <a:gd name="adj" fmla="val 360005"/>
            </a:avLst>
          </a:prstGeom>
          <a:solidFill>
            <a:srgbClr val="FFFFF4"/>
          </a:solidFill>
          <a:ln w="22860">
            <a:solidFill>
              <a:srgbClr val="FFE0CC"/>
            </a:solidFill>
            <a:prstDash val="solid"/>
          </a:ln>
        </p:spPr>
        <p:txBody>
          <a:bodyPr/>
          <a:lstStyle/>
          <a:p>
            <a:endParaRPr lang="en-IN"/>
          </a:p>
        </p:txBody>
      </p:sp>
      <p:sp>
        <p:nvSpPr>
          <p:cNvPr id="9" name="Text 6"/>
          <p:cNvSpPr/>
          <p:nvPr/>
        </p:nvSpPr>
        <p:spPr>
          <a:xfrm>
            <a:off x="946904" y="3563660"/>
            <a:ext cx="298966" cy="388739"/>
          </a:xfrm>
          <a:prstGeom prst="rect">
            <a:avLst/>
          </a:prstGeom>
          <a:noFill/>
          <a:ln/>
        </p:spPr>
        <p:txBody>
          <a:bodyPr wrap="none" lIns="0" tIns="0" rIns="0" bIns="0" rtlCol="0" anchor="t"/>
          <a:lstStyle/>
          <a:p>
            <a:pPr marL="0" indent="0" algn="l">
              <a:lnSpc>
                <a:spcPts val="2350"/>
              </a:lnSpc>
              <a:buNone/>
            </a:pPr>
            <a:r>
              <a:rPr lang="en-US" sz="2350" dirty="0">
                <a:solidFill>
                  <a:srgbClr val="67534F"/>
                </a:solidFill>
                <a:latin typeface="Marcellus" pitchFamily="34" charset="0"/>
                <a:ea typeface="Marcellus" pitchFamily="34" charset="-122"/>
                <a:cs typeface="Marcellus" pitchFamily="34" charset="-120"/>
              </a:rPr>
              <a:t>2</a:t>
            </a:r>
            <a:endParaRPr lang="en-US" sz="2350" dirty="0"/>
          </a:p>
        </p:txBody>
      </p:sp>
      <p:sp>
        <p:nvSpPr>
          <p:cNvPr id="10" name="Text 7"/>
          <p:cNvSpPr/>
          <p:nvPr/>
        </p:nvSpPr>
        <p:spPr>
          <a:xfrm>
            <a:off x="1694498" y="3252787"/>
            <a:ext cx="3007043" cy="372547"/>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Explore Smart Matches</a:t>
            </a:r>
            <a:endParaRPr lang="en-US" sz="2250" dirty="0"/>
          </a:p>
        </p:txBody>
      </p:sp>
      <p:sp>
        <p:nvSpPr>
          <p:cNvPr id="11" name="Text 8"/>
          <p:cNvSpPr/>
          <p:nvPr/>
        </p:nvSpPr>
        <p:spPr>
          <a:xfrm>
            <a:off x="1694498" y="3744873"/>
            <a:ext cx="6751796" cy="518398"/>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View phones ranked by your needs with clear performance metrics and transparent pricing.</a:t>
            </a:r>
            <a:endParaRPr lang="en-US" sz="1550" dirty="0"/>
          </a:p>
        </p:txBody>
      </p:sp>
      <p:sp>
        <p:nvSpPr>
          <p:cNvPr id="12" name="Shape 9"/>
          <p:cNvSpPr/>
          <p:nvPr/>
        </p:nvSpPr>
        <p:spPr>
          <a:xfrm>
            <a:off x="697706" y="4661892"/>
            <a:ext cx="797481" cy="1409105"/>
          </a:xfrm>
          <a:prstGeom prst="roundRect">
            <a:avLst>
              <a:gd name="adj" fmla="val 360005"/>
            </a:avLst>
          </a:prstGeom>
          <a:solidFill>
            <a:srgbClr val="FFFFF4"/>
          </a:solidFill>
          <a:ln w="22860">
            <a:solidFill>
              <a:srgbClr val="FFE0CC"/>
            </a:solidFill>
            <a:prstDash val="solid"/>
          </a:ln>
        </p:spPr>
        <p:txBody>
          <a:bodyPr/>
          <a:lstStyle/>
          <a:p>
            <a:endParaRPr lang="en-IN"/>
          </a:p>
        </p:txBody>
      </p:sp>
      <p:sp>
        <p:nvSpPr>
          <p:cNvPr id="13" name="Text 10"/>
          <p:cNvSpPr/>
          <p:nvPr/>
        </p:nvSpPr>
        <p:spPr>
          <a:xfrm>
            <a:off x="946904" y="5172075"/>
            <a:ext cx="298966" cy="388739"/>
          </a:xfrm>
          <a:prstGeom prst="rect">
            <a:avLst/>
          </a:prstGeom>
          <a:noFill/>
          <a:ln/>
        </p:spPr>
        <p:txBody>
          <a:bodyPr wrap="none" lIns="0" tIns="0" rIns="0" bIns="0" rtlCol="0" anchor="t"/>
          <a:lstStyle/>
          <a:p>
            <a:pPr marL="0" indent="0" algn="l">
              <a:lnSpc>
                <a:spcPts val="2350"/>
              </a:lnSpc>
              <a:buNone/>
            </a:pPr>
            <a:r>
              <a:rPr lang="en-US" sz="2350" dirty="0">
                <a:solidFill>
                  <a:srgbClr val="67534F"/>
                </a:solidFill>
                <a:latin typeface="Marcellus" pitchFamily="34" charset="0"/>
                <a:ea typeface="Marcellus" pitchFamily="34" charset="-122"/>
                <a:cs typeface="Marcellus" pitchFamily="34" charset="-120"/>
              </a:rPr>
              <a:t>3</a:t>
            </a:r>
            <a:endParaRPr lang="en-US" sz="2350" dirty="0"/>
          </a:p>
        </p:txBody>
      </p:sp>
      <p:sp>
        <p:nvSpPr>
          <p:cNvPr id="14" name="Text 11"/>
          <p:cNvSpPr/>
          <p:nvPr/>
        </p:nvSpPr>
        <p:spPr>
          <a:xfrm>
            <a:off x="1694498" y="4861203"/>
            <a:ext cx="3412569" cy="372547"/>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Compare with Confidence</a:t>
            </a:r>
            <a:endParaRPr lang="en-US" sz="2250" dirty="0"/>
          </a:p>
        </p:txBody>
      </p:sp>
      <p:sp>
        <p:nvSpPr>
          <p:cNvPr id="15" name="Text 12"/>
          <p:cNvSpPr/>
          <p:nvPr/>
        </p:nvSpPr>
        <p:spPr>
          <a:xfrm>
            <a:off x="1694498" y="5353288"/>
            <a:ext cx="6751796" cy="518398"/>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Deep-dive comparisons show real differences, honest trade-offs, and long-term value impact.</a:t>
            </a:r>
            <a:endParaRPr lang="en-US" sz="1550" dirty="0"/>
          </a:p>
        </p:txBody>
      </p:sp>
      <p:sp>
        <p:nvSpPr>
          <p:cNvPr id="16" name="Shape 13"/>
          <p:cNvSpPr/>
          <p:nvPr/>
        </p:nvSpPr>
        <p:spPr>
          <a:xfrm>
            <a:off x="697706" y="6270308"/>
            <a:ext cx="797481" cy="1409105"/>
          </a:xfrm>
          <a:prstGeom prst="roundRect">
            <a:avLst>
              <a:gd name="adj" fmla="val 360005"/>
            </a:avLst>
          </a:prstGeom>
          <a:solidFill>
            <a:srgbClr val="FFFFF4"/>
          </a:solidFill>
          <a:ln w="22860">
            <a:solidFill>
              <a:srgbClr val="FFE0CC"/>
            </a:solidFill>
            <a:prstDash val="solid"/>
          </a:ln>
        </p:spPr>
        <p:txBody>
          <a:bodyPr/>
          <a:lstStyle/>
          <a:p>
            <a:endParaRPr lang="en-IN"/>
          </a:p>
        </p:txBody>
      </p:sp>
      <p:sp>
        <p:nvSpPr>
          <p:cNvPr id="17" name="Text 14"/>
          <p:cNvSpPr/>
          <p:nvPr/>
        </p:nvSpPr>
        <p:spPr>
          <a:xfrm>
            <a:off x="946904" y="6780490"/>
            <a:ext cx="298966" cy="388739"/>
          </a:xfrm>
          <a:prstGeom prst="rect">
            <a:avLst/>
          </a:prstGeom>
          <a:noFill/>
          <a:ln/>
        </p:spPr>
        <p:txBody>
          <a:bodyPr wrap="none" lIns="0" tIns="0" rIns="0" bIns="0" rtlCol="0" anchor="t"/>
          <a:lstStyle/>
          <a:p>
            <a:pPr marL="0" indent="0" algn="l">
              <a:lnSpc>
                <a:spcPts val="2350"/>
              </a:lnSpc>
              <a:buNone/>
            </a:pPr>
            <a:r>
              <a:rPr lang="en-US" sz="2350" dirty="0">
                <a:solidFill>
                  <a:srgbClr val="67534F"/>
                </a:solidFill>
                <a:latin typeface="Marcellus" pitchFamily="34" charset="0"/>
                <a:ea typeface="Marcellus" pitchFamily="34" charset="-122"/>
                <a:cs typeface="Marcellus" pitchFamily="34" charset="-120"/>
              </a:rPr>
              <a:t>4</a:t>
            </a:r>
            <a:endParaRPr lang="en-US" sz="2350" dirty="0"/>
          </a:p>
        </p:txBody>
      </p:sp>
      <p:sp>
        <p:nvSpPr>
          <p:cNvPr id="18" name="Text 15"/>
          <p:cNvSpPr/>
          <p:nvPr/>
        </p:nvSpPr>
        <p:spPr>
          <a:xfrm>
            <a:off x="1694498" y="6469618"/>
            <a:ext cx="2865953" cy="372547"/>
          </a:xfrm>
          <a:prstGeom prst="rect">
            <a:avLst/>
          </a:prstGeom>
          <a:noFill/>
          <a:ln/>
        </p:spPr>
        <p:txBody>
          <a:bodyPr wrap="none" lIns="0" tIns="0" rIns="0" bIns="0" rtlCol="0" anchor="t"/>
          <a:lstStyle/>
          <a:p>
            <a:pPr marL="0" indent="0" algn="l">
              <a:lnSpc>
                <a:spcPts val="2900"/>
              </a:lnSpc>
              <a:buNone/>
            </a:pPr>
            <a:r>
              <a:rPr lang="en-US" sz="2250" dirty="0">
                <a:solidFill>
                  <a:srgbClr val="67534F"/>
                </a:solidFill>
                <a:latin typeface="Marcellus" pitchFamily="34" charset="0"/>
                <a:ea typeface="Marcellus" pitchFamily="34" charset="-122"/>
                <a:cs typeface="Marcellus" pitchFamily="34" charset="-120"/>
              </a:rPr>
              <a:t>Get Shopkeeper Card</a:t>
            </a:r>
            <a:endParaRPr lang="en-US" sz="2250" dirty="0"/>
          </a:p>
        </p:txBody>
      </p:sp>
      <p:sp>
        <p:nvSpPr>
          <p:cNvPr id="19" name="Text 16"/>
          <p:cNvSpPr/>
          <p:nvPr/>
        </p:nvSpPr>
        <p:spPr>
          <a:xfrm>
            <a:off x="1694498" y="6961703"/>
            <a:ext cx="6751796" cy="518398"/>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Receive a curated recommendation card to show local retailers—backed by data, not sales pressure.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24138" y="568881"/>
            <a:ext cx="5356741" cy="618649"/>
          </a:xfrm>
          <a:prstGeom prst="rect">
            <a:avLst/>
          </a:prstGeom>
          <a:noFill/>
          <a:ln/>
        </p:spPr>
        <p:txBody>
          <a:bodyPr wrap="none" lIns="0" tIns="0" rIns="0" bIns="0" rtlCol="0" anchor="t"/>
          <a:lstStyle/>
          <a:p>
            <a:pPr marL="0" indent="0" algn="l">
              <a:lnSpc>
                <a:spcPts val="4850"/>
              </a:lnSpc>
              <a:buNone/>
            </a:pPr>
            <a:r>
              <a:rPr lang="en-US" sz="3700" dirty="0">
                <a:solidFill>
                  <a:srgbClr val="532418"/>
                </a:solidFill>
                <a:latin typeface="Marcellus" pitchFamily="34" charset="0"/>
                <a:ea typeface="Marcellus" pitchFamily="34" charset="-122"/>
                <a:cs typeface="Marcellus" pitchFamily="34" charset="-120"/>
              </a:rPr>
              <a:t>The Premium Experience</a:t>
            </a:r>
            <a:endParaRPr lang="en-US" sz="3700" dirty="0"/>
          </a:p>
        </p:txBody>
      </p:sp>
      <p:pic>
        <p:nvPicPr>
          <p:cNvPr id="3" name="Image 0" descr="preencoded.png"/>
          <p:cNvPicPr>
            <a:picLocks noChangeAspect="1"/>
          </p:cNvPicPr>
          <p:nvPr/>
        </p:nvPicPr>
        <p:blipFill>
          <a:blip r:embed="rId3"/>
          <a:stretch>
            <a:fillRect/>
          </a:stretch>
        </p:blipFill>
        <p:spPr>
          <a:xfrm>
            <a:off x="724138" y="1730454"/>
            <a:ext cx="6338649" cy="6338649"/>
          </a:xfrm>
          <a:prstGeom prst="rect">
            <a:avLst/>
          </a:prstGeom>
        </p:spPr>
      </p:pic>
      <p:sp>
        <p:nvSpPr>
          <p:cNvPr id="4" name="Text 1"/>
          <p:cNvSpPr/>
          <p:nvPr/>
        </p:nvSpPr>
        <p:spPr>
          <a:xfrm>
            <a:off x="7575233" y="1704618"/>
            <a:ext cx="3970020" cy="386596"/>
          </a:xfrm>
          <a:prstGeom prst="rect">
            <a:avLst/>
          </a:prstGeom>
          <a:noFill/>
          <a:ln/>
        </p:spPr>
        <p:txBody>
          <a:bodyPr wrap="none" lIns="0" tIns="0" rIns="0" bIns="0" rtlCol="0" anchor="t"/>
          <a:lstStyle/>
          <a:p>
            <a:pPr marL="0" indent="0" algn="l">
              <a:lnSpc>
                <a:spcPts val="3000"/>
              </a:lnSpc>
              <a:buNone/>
            </a:pPr>
            <a:r>
              <a:rPr lang="en-US" sz="2300" dirty="0">
                <a:solidFill>
                  <a:srgbClr val="532418"/>
                </a:solidFill>
                <a:latin typeface="Marcellus" pitchFamily="34" charset="0"/>
                <a:ea typeface="Marcellus" pitchFamily="34" charset="-122"/>
                <a:cs typeface="Marcellus" pitchFamily="34" charset="-120"/>
              </a:rPr>
              <a:t>Where Design Meets Purpose</a:t>
            </a:r>
            <a:endParaRPr lang="en-US" sz="2300" dirty="0"/>
          </a:p>
        </p:txBody>
      </p:sp>
      <p:sp>
        <p:nvSpPr>
          <p:cNvPr id="5" name="Text 2"/>
          <p:cNvSpPr/>
          <p:nvPr/>
        </p:nvSpPr>
        <p:spPr>
          <a:xfrm>
            <a:off x="7575233" y="2298025"/>
            <a:ext cx="6338649" cy="537924"/>
          </a:xfrm>
          <a:prstGeom prst="rect">
            <a:avLst/>
          </a:prstGeom>
          <a:noFill/>
          <a:ln/>
        </p:spPr>
        <p:txBody>
          <a:bodyPr wrap="square" lIns="0" tIns="0" rIns="0" bIns="0" rtlCol="0" anchor="t"/>
          <a:lstStyle/>
          <a:p>
            <a:pPr marL="0" indent="0" algn="l">
              <a:lnSpc>
                <a:spcPts val="2100"/>
              </a:lnSpc>
              <a:buNone/>
            </a:pPr>
            <a:r>
              <a:rPr lang="en-US" sz="1600" dirty="0">
                <a:solidFill>
                  <a:srgbClr val="67534F"/>
                </a:solidFill>
                <a:latin typeface="Montserrat" pitchFamily="34" charset="0"/>
                <a:ea typeface="Montserrat" pitchFamily="34" charset="-122"/>
                <a:cs typeface="Montserrat" pitchFamily="34" charset="-120"/>
              </a:rPr>
              <a:t>Premium UI that's beautiful and functional. Every interaction feels intentional. Every recommendation feels personal.</a:t>
            </a:r>
            <a:endParaRPr lang="en-US" sz="1600" dirty="0"/>
          </a:p>
        </p:txBody>
      </p:sp>
      <p:sp>
        <p:nvSpPr>
          <p:cNvPr id="6" name="Text 3"/>
          <p:cNvSpPr/>
          <p:nvPr/>
        </p:nvSpPr>
        <p:spPr>
          <a:xfrm>
            <a:off x="7575233" y="3022044"/>
            <a:ext cx="6338649" cy="268962"/>
          </a:xfrm>
          <a:prstGeom prst="rect">
            <a:avLst/>
          </a:prstGeom>
          <a:noFill/>
          <a:ln/>
        </p:spPr>
        <p:txBody>
          <a:bodyPr wrap="none" lIns="0" tIns="0" rIns="0" bIns="0" rtlCol="0" anchor="t"/>
          <a:lstStyle/>
          <a:p>
            <a:pPr marL="0" indent="0" algn="l">
              <a:lnSpc>
                <a:spcPts val="2100"/>
              </a:lnSpc>
              <a:buNone/>
            </a:pPr>
            <a:r>
              <a:rPr lang="en-US" sz="1600" b="1" dirty="0">
                <a:solidFill>
                  <a:srgbClr val="67534F"/>
                </a:solidFill>
                <a:latin typeface="Montserrat" pitchFamily="34" charset="0"/>
                <a:ea typeface="Montserrat" pitchFamily="34" charset="-122"/>
                <a:cs typeface="Montserrat" pitchFamily="34" charset="-120"/>
              </a:rPr>
              <a:t>Fast. Honest. Unbiased.</a:t>
            </a:r>
            <a:endParaRPr lang="en-US" sz="1600" dirty="0"/>
          </a:p>
        </p:txBody>
      </p:sp>
      <p:sp>
        <p:nvSpPr>
          <p:cNvPr id="7" name="Text 4"/>
          <p:cNvSpPr/>
          <p:nvPr/>
        </p:nvSpPr>
        <p:spPr>
          <a:xfrm>
            <a:off x="7575233" y="3477101"/>
            <a:ext cx="6338649" cy="268962"/>
          </a:xfrm>
          <a:prstGeom prst="rect">
            <a:avLst/>
          </a:prstGeom>
          <a:noFill/>
          <a:ln/>
        </p:spPr>
        <p:txBody>
          <a:bodyPr wrap="none" lIns="0" tIns="0" rIns="0" bIns="0" rtlCol="0" anchor="t"/>
          <a:lstStyle/>
          <a:p>
            <a:pPr marL="0" indent="0" algn="l">
              <a:lnSpc>
                <a:spcPts val="2100"/>
              </a:lnSpc>
              <a:buNone/>
            </a:pPr>
            <a:r>
              <a:rPr lang="en-US" sz="1600" dirty="0">
                <a:solidFill>
                  <a:srgbClr val="67534F"/>
                </a:solidFill>
                <a:latin typeface="Montserrat" pitchFamily="34" charset="0"/>
                <a:ea typeface="Montserrat" pitchFamily="34" charset="-122"/>
                <a:cs typeface="Montserrat" pitchFamily="34" charset="-120"/>
              </a:rPr>
              <a:t>No confusion. No regret. Just the right phone for you.</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797754" y="2823448"/>
            <a:ext cx="6521291" cy="847725"/>
          </a:xfrm>
          <a:prstGeom prst="rect">
            <a:avLst/>
          </a:prstGeom>
          <a:noFill/>
          <a:ln/>
        </p:spPr>
        <p:txBody>
          <a:bodyPr wrap="none" lIns="0" tIns="0" rIns="0" bIns="0" rtlCol="0" anchor="t"/>
          <a:lstStyle/>
          <a:p>
            <a:pPr marL="0" indent="0" algn="ctr">
              <a:lnSpc>
                <a:spcPts val="6650"/>
              </a:lnSpc>
              <a:buNone/>
            </a:pPr>
            <a:r>
              <a:rPr lang="en-US" sz="5100" dirty="0">
                <a:solidFill>
                  <a:srgbClr val="532418"/>
                </a:solidFill>
                <a:latin typeface="Marcellus" pitchFamily="34" charset="0"/>
                <a:ea typeface="Marcellus" pitchFamily="34" charset="-122"/>
                <a:cs typeface="Marcellus" pitchFamily="34" charset="-120"/>
              </a:rPr>
              <a:t>We Don't Sell Phones</a:t>
            </a:r>
            <a:endParaRPr lang="en-US" sz="5100" dirty="0"/>
          </a:p>
        </p:txBody>
      </p:sp>
      <p:sp>
        <p:nvSpPr>
          <p:cNvPr id="4" name="Text 1"/>
          <p:cNvSpPr/>
          <p:nvPr/>
        </p:nvSpPr>
        <p:spPr>
          <a:xfrm>
            <a:off x="6280190" y="4011335"/>
            <a:ext cx="7556421" cy="294799"/>
          </a:xfrm>
          <a:prstGeom prst="rect">
            <a:avLst/>
          </a:prstGeom>
          <a:noFill/>
          <a:ln/>
        </p:spPr>
        <p:txBody>
          <a:bodyPr wrap="none" lIns="0" tIns="0" rIns="0" bIns="0" rtlCol="0" anchor="t"/>
          <a:lstStyle/>
          <a:p>
            <a:pPr marL="0" indent="0" algn="ctr">
              <a:lnSpc>
                <a:spcPts val="2300"/>
              </a:lnSpc>
              <a:buNone/>
            </a:pPr>
            <a:r>
              <a:rPr lang="en-US" sz="1750" i="1" dirty="0">
                <a:solidFill>
                  <a:srgbClr val="67534F"/>
                </a:solidFill>
                <a:latin typeface="Lato Thin" panose="020F0502020204030204" pitchFamily="34" charset="0"/>
                <a:ea typeface="Montserrat" pitchFamily="34" charset="-122"/>
                <a:cs typeface="Montserrat" pitchFamily="34" charset="-120"/>
              </a:rPr>
              <a:t>We help you buy the right one.</a:t>
            </a:r>
            <a:endParaRPr lang="en-US" sz="1750" dirty="0">
              <a:latin typeface="Lato Thin" panose="020F0502020204030204" pitchFamily="34" charset="0"/>
            </a:endParaRPr>
          </a:p>
        </p:txBody>
      </p:sp>
      <p:sp>
        <p:nvSpPr>
          <p:cNvPr id="5" name="Text 2"/>
          <p:cNvSpPr/>
          <p:nvPr/>
        </p:nvSpPr>
        <p:spPr>
          <a:xfrm>
            <a:off x="6280190" y="4561284"/>
            <a:ext cx="7556421" cy="294799"/>
          </a:xfrm>
          <a:prstGeom prst="rect">
            <a:avLst/>
          </a:prstGeom>
          <a:noFill/>
          <a:ln/>
        </p:spPr>
        <p:txBody>
          <a:bodyPr wrap="none" lIns="0" tIns="0" rIns="0" bIns="0" rtlCol="0" anchor="t"/>
          <a:lstStyle/>
          <a:p>
            <a:pPr marL="0" indent="0" algn="l">
              <a:lnSpc>
                <a:spcPts val="2300"/>
              </a:lnSpc>
              <a:buNone/>
            </a:pPr>
            <a:r>
              <a:rPr lang="en-US" sz="1750" b="1" dirty="0">
                <a:solidFill>
                  <a:srgbClr val="67534F"/>
                </a:solidFill>
                <a:latin typeface="Montserrat" pitchFamily="34" charset="0"/>
                <a:ea typeface="Montserrat" pitchFamily="34" charset="-122"/>
                <a:cs typeface="Montserrat" pitchFamily="34" charset="-120"/>
              </a:rPr>
              <a:t>RMDU Mobile</a:t>
            </a:r>
            <a:endParaRPr lang="en-US" sz="1750" dirty="0"/>
          </a:p>
        </p:txBody>
      </p:sp>
      <p:sp>
        <p:nvSpPr>
          <p:cNvPr id="6" name="Text 3"/>
          <p:cNvSpPr/>
          <p:nvPr/>
        </p:nvSpPr>
        <p:spPr>
          <a:xfrm>
            <a:off x="6280190" y="5111234"/>
            <a:ext cx="7556421" cy="294799"/>
          </a:xfrm>
          <a:prstGeom prst="rect">
            <a:avLst/>
          </a:prstGeom>
          <a:noFill/>
          <a:ln/>
        </p:spPr>
        <p:txBody>
          <a:bodyPr wrap="none" lIns="0" tIns="0" rIns="0" bIns="0" rtlCol="0" anchor="t"/>
          <a:lstStyle/>
          <a:p>
            <a:pPr marL="0" indent="0" algn="l">
              <a:lnSpc>
                <a:spcPts val="2300"/>
              </a:lnSpc>
              <a:buNone/>
            </a:pPr>
            <a:r>
              <a:rPr lang="en-US" sz="1750" dirty="0">
                <a:solidFill>
                  <a:srgbClr val="67534F"/>
                </a:solidFill>
                <a:latin typeface="Montserrat" pitchFamily="34" charset="0"/>
                <a:ea typeface="Montserrat" pitchFamily="34" charset="-122"/>
                <a:cs typeface="Montserrat" pitchFamily="34" charset="-120"/>
              </a:rPr>
              <a:t>Upgrade Your Statement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569</Words>
  <Application>Microsoft Office PowerPoint</Application>
  <PresentationFormat>Custom</PresentationFormat>
  <Paragraphs>97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Marcellus</vt:lpstr>
      <vt:lpstr>Montserrat</vt:lpstr>
      <vt:lpstr>Lato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Meet Rabadiya</cp:lastModifiedBy>
  <cp:revision>2</cp:revision>
  <dcterms:created xsi:type="dcterms:W3CDTF">2025-11-10T06:55:11Z</dcterms:created>
  <dcterms:modified xsi:type="dcterms:W3CDTF">2025-11-10T07:08:22Z</dcterms:modified>
</cp:coreProperties>
</file>